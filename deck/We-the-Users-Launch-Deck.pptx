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The 250th anniversary of the vote for American independence, reclaimed for the internet. One breath, then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personal. The shadow is not an abstraction, it is them. Land 'your digital shadow' as the name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indictment, in four words: We the Users have become we the used. Let the pun land, then the proof, your shadow taken and the value kept: no say, no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indictment as one picture: your data fills the pipe, the platform drinks, and only a trickle reaches the person who made it. Let it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hinge of the whole pitch. The internet feels like nature; it is architecture. Slow down on the last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Borrow the legitimacy of 1776. The physical world threw off rule without consent; the digital world now does the same. Hamilton's framing: government by reflection and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promise, in three. Ownership, fair return, and the anti-oligarchy rule that keeps it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shadow, the same pipe, but the rewards now branch out to everyone and the hoarder's chair sits empty. This is what 'owned by the people who use it'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light for a public room. The point is not the org chart, it is that power is split on purpose, like a citizen, a state, and a federal government.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constitution is two things: the Covenant people agree to, and the Code that runs it. And the deepest check: the whole thing can be forked.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 signature of the project. This is not a startup quarter, it is a founding meant to endure.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Pivot to depth. The movement is not a slogan; the full argument lives in five short essays. Walk them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 expectations honestly: July 2 is the declaration moment, not the finished republic. In 1776 they declared; the constitution came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doors. No geography, no gatekeeping by money or birth. You belong by showing up and affirming the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One action: add your name at wetheusers.ai.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banner and its shadow: We the Users, not we the used. The whole movement in five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03B"/>
        </a:solidFill>
      </p:bgPr>
    </p:bg>
    <p:spTree>
      <p:nvGrpSpPr>
        <p:cNvPr id="1" name=""/>
        <p:cNvGrpSpPr/>
        <p:nvPr/>
      </p:nvGrpSpPr>
      <p:grpSpPr>
        <a:xfrm>
          <a:off x="0" y="0"/>
          <a:ext cx="0" cy="0"/>
          <a:chOff x="0" y="0"/>
          <a:chExt cx="0" cy="0"/>
        </a:xfrm>
      </p:grpSpPr>
      <p:sp>
        <p:nvSpPr>
          <p:cNvPr id="2" name="Shape 0"/>
          <p:cNvSpPr/>
          <p:nvPr/>
        </p:nvSpPr>
        <p:spPr>
          <a:xfrm rot="2700000">
            <a:off x="4498848" y="1078992"/>
            <a:ext cx="146304" cy="146304"/>
          </a:xfrm>
          <a:prstGeom prst="rect">
            <a:avLst/>
          </a:prstGeom>
          <a:solidFill>
            <a:srgbClr val="B08D3A"/>
          </a:solidFill>
          <a:ln/>
        </p:spPr>
      </p:sp>
      <p:sp>
        <p:nvSpPr>
          <p:cNvPr id="3" name="Text 1"/>
          <p:cNvSpPr/>
          <p:nvPr/>
        </p:nvSpPr>
        <p:spPr>
          <a:xfrm>
            <a:off x="0" y="1481328"/>
            <a:ext cx="9144000" cy="310896"/>
          </a:xfrm>
          <a:prstGeom prst="rect">
            <a:avLst/>
          </a:prstGeom>
          <a:noFill/>
          <a:ln/>
        </p:spPr>
        <p:txBody>
          <a:bodyPr wrap="square" rtlCol="0" anchor="ctr"/>
          <a:lstStyle/>
          <a:p>
            <a:pPr algn="ctr" indent="0" marL="0">
              <a:buNone/>
            </a:pPr>
            <a:r>
              <a:rPr lang="en-US" sz="1350" b="1" spc="400" kern="0" dirty="0">
                <a:solidFill>
                  <a:srgbClr val="C9A24B"/>
                </a:solidFill>
                <a:latin typeface="Calibri" pitchFamily="34" charset="0"/>
                <a:ea typeface="Calibri" pitchFamily="34" charset="-122"/>
                <a:cs typeface="Calibri" pitchFamily="34" charset="-120"/>
              </a:rPr>
              <a:t>A DECLARATION OF INTERNET INDEPENDENCE</a:t>
            </a:r>
            <a:endParaRPr lang="en-US" sz="1350" dirty="0"/>
          </a:p>
        </p:txBody>
      </p:sp>
      <p:sp>
        <p:nvSpPr>
          <p:cNvPr id="4" name="Text 2"/>
          <p:cNvSpPr/>
          <p:nvPr/>
        </p:nvSpPr>
        <p:spPr>
          <a:xfrm>
            <a:off x="0" y="1874520"/>
            <a:ext cx="9144000" cy="1143000"/>
          </a:xfrm>
          <a:prstGeom prst="rect">
            <a:avLst/>
          </a:prstGeom>
          <a:noFill/>
          <a:ln/>
          <a:effectLst>
            <a:outerShdw sx="100000" sy="100000" kx="0" ky="0" algn="bl" rotWithShape="0" blurRad="152400" dist="76200" dir="5400000">
              <a:srgbClr val="000000">
                <a:alpha val="38000"/>
              </a:srgbClr>
            </a:outerShdw>
          </a:effectLst>
        </p:spPr>
        <p:txBody>
          <a:bodyPr wrap="square" rtlCol="0" anchor="ctr"/>
          <a:lstStyle/>
          <a:p>
            <a:pPr algn="ctr" indent="0" marL="0">
              <a:buNone/>
            </a:pPr>
            <a:r>
              <a:rPr lang="en-US" sz="7600" b="1" dirty="0">
                <a:solidFill>
                  <a:srgbClr val="F1ECDD"/>
                </a:solidFill>
                <a:latin typeface="Cambria" pitchFamily="34" charset="0"/>
                <a:ea typeface="Cambria" pitchFamily="34" charset="-122"/>
                <a:cs typeface="Cambria" pitchFamily="34" charset="-120"/>
              </a:rPr>
              <a:t>We the Users</a:t>
            </a:r>
            <a:endParaRPr lang="en-US" sz="7600" dirty="0"/>
          </a:p>
        </p:txBody>
      </p:sp>
      <p:sp>
        <p:nvSpPr>
          <p:cNvPr id="5" name="Text 3"/>
          <p:cNvSpPr/>
          <p:nvPr/>
        </p:nvSpPr>
        <p:spPr>
          <a:xfrm>
            <a:off x="0" y="3127248"/>
            <a:ext cx="9144000" cy="411480"/>
          </a:xfrm>
          <a:prstGeom prst="rect">
            <a:avLst/>
          </a:prstGeom>
          <a:noFill/>
          <a:ln/>
        </p:spPr>
        <p:txBody>
          <a:bodyPr wrap="square" rtlCol="0" anchor="ctr"/>
          <a:lstStyle/>
          <a:p>
            <a:pPr algn="ctr" indent="0" marL="0">
              <a:buNone/>
            </a:pPr>
            <a:r>
              <a:rPr lang="en-US" sz="2100" i="1" dirty="0">
                <a:solidFill>
                  <a:srgbClr val="D8D2C2"/>
                </a:solidFill>
                <a:latin typeface="Cambria" pitchFamily="34" charset="0"/>
                <a:ea typeface="Cambria" pitchFamily="34" charset="-122"/>
                <a:cs typeface="Cambria" pitchFamily="34" charset="-120"/>
              </a:rPr>
              <a:t>An internet owned by the people who use it.</a:t>
            </a:r>
            <a:endParaRPr lang="en-US" sz="2100" dirty="0"/>
          </a:p>
        </p:txBody>
      </p:sp>
      <p:sp>
        <p:nvSpPr>
          <p:cNvPr id="6" name="Text 4"/>
          <p:cNvSpPr/>
          <p:nvPr/>
        </p:nvSpPr>
        <p:spPr>
          <a:xfrm>
            <a:off x="0" y="4160520"/>
            <a:ext cx="9144000" cy="310896"/>
          </a:xfrm>
          <a:prstGeom prst="rect">
            <a:avLst/>
          </a:prstGeom>
          <a:noFill/>
          <a:ln/>
        </p:spPr>
        <p:txBody>
          <a:bodyPr wrap="square" rtlCol="0" anchor="ctr"/>
          <a:lstStyle/>
          <a:p>
            <a:pPr algn="ctr" indent="0" marL="0">
              <a:buNone/>
            </a:pPr>
            <a:r>
              <a:rPr lang="en-US" sz="1400" b="1" spc="500" kern="0" dirty="0">
                <a:solidFill>
                  <a:srgbClr val="F1ECDD"/>
                </a:solidFill>
                <a:latin typeface="Calibri" pitchFamily="34" charset="0"/>
                <a:ea typeface="Calibri" pitchFamily="34" charset="-122"/>
                <a:cs typeface="Calibri" pitchFamily="34" charset="-120"/>
              </a:rPr>
              <a:t>JULY 2,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2A4A"/>
        </a:solidFill>
      </p:bgPr>
    </p:bg>
    <p:spTree>
      <p:nvGrpSpPr>
        <p:cNvPr id="1" name=""/>
        <p:cNvGrpSpPr/>
        <p:nvPr/>
      </p:nvGrpSpPr>
      <p:grpSpPr>
        <a:xfrm>
          <a:off x="0" y="0"/>
          <a:ext cx="0" cy="0"/>
          <a:chOff x="0" y="0"/>
          <a:chExt cx="0" cy="0"/>
        </a:xfrm>
      </p:grpSpPr>
      <p:sp>
        <p:nvSpPr>
          <p:cNvPr id="2" name="Shape 0"/>
          <p:cNvSpPr/>
          <p:nvPr/>
        </p:nvSpPr>
        <p:spPr>
          <a:xfrm rot="2700000">
            <a:off x="566928" y="365760"/>
            <a:ext cx="109728" cy="109728"/>
          </a:xfrm>
          <a:prstGeom prst="rect">
            <a:avLst/>
          </a:prstGeom>
          <a:solidFill>
            <a:srgbClr val="B08D3A"/>
          </a:solidFill>
          <a:ln/>
        </p:spPr>
      </p:sp>
      <p:sp>
        <p:nvSpPr>
          <p:cNvPr id="3" name="Text 1"/>
          <p:cNvSpPr/>
          <p:nvPr/>
        </p:nvSpPr>
        <p:spPr>
          <a:xfrm>
            <a:off x="786384" y="274320"/>
            <a:ext cx="3657600" cy="292608"/>
          </a:xfrm>
          <a:prstGeom prst="rect">
            <a:avLst/>
          </a:prstGeom>
          <a:noFill/>
          <a:ln/>
        </p:spPr>
        <p:txBody>
          <a:bodyPr wrap="square" lIns="0" tIns="0" rIns="0" bIns="0" rtlCol="0" anchor="ctr"/>
          <a:lstStyle/>
          <a:p>
            <a:pPr indent="0" marL="0">
              <a:buNone/>
            </a:pPr>
            <a:r>
              <a:rPr lang="en-US" sz="1150" b="1" spc="300" kern="0" dirty="0">
                <a:solidFill>
                  <a:srgbClr val="F1ECDD"/>
                </a:solidFill>
                <a:latin typeface="Calibri" pitchFamily="34" charset="0"/>
                <a:ea typeface="Calibri" pitchFamily="34" charset="-122"/>
                <a:cs typeface="Calibri" pitchFamily="34" charset="-120"/>
              </a:rPr>
              <a:t>WE THE USERS</a:t>
            </a:r>
            <a:endParaRPr lang="en-US" sz="1150" dirty="0"/>
          </a:p>
        </p:txBody>
      </p:sp>
      <p:sp>
        <p:nvSpPr>
          <p:cNvPr id="4" name="Text 2"/>
          <p:cNvSpPr/>
          <p:nvPr/>
        </p:nvSpPr>
        <p:spPr>
          <a:xfrm>
            <a:off x="8138160" y="4668012"/>
            <a:ext cx="457200" cy="274320"/>
          </a:xfrm>
          <a:prstGeom prst="rect">
            <a:avLst/>
          </a:prstGeom>
          <a:noFill/>
          <a:ln/>
        </p:spPr>
        <p:txBody>
          <a:bodyPr wrap="square" lIns="0" tIns="0" rIns="0" bIns="0" rtlCol="0" anchor="ctr"/>
          <a:lstStyle/>
          <a:p>
            <a:pPr algn="r" indent="0" marL="0">
              <a:buNone/>
            </a:pPr>
            <a:r>
              <a:rPr lang="en-US" sz="1000" dirty="0">
                <a:solidFill>
                  <a:srgbClr val="9AA6BC"/>
                </a:solidFill>
                <a:latin typeface="Calibri" pitchFamily="34" charset="0"/>
                <a:ea typeface="Calibri" pitchFamily="34" charset="-122"/>
                <a:cs typeface="Calibri" pitchFamily="34" charset="-120"/>
              </a:rPr>
              <a:t>2</a:t>
            </a:r>
            <a:endParaRPr lang="en-US" sz="1000" dirty="0"/>
          </a:p>
        </p:txBody>
      </p:sp>
      <p:sp>
        <p:nvSpPr>
          <p:cNvPr id="5" name="Text 3"/>
          <p:cNvSpPr/>
          <p:nvPr/>
        </p:nvSpPr>
        <p:spPr>
          <a:xfrm>
            <a:off x="566928" y="1234440"/>
            <a:ext cx="7315200" cy="274320"/>
          </a:xfrm>
          <a:prstGeom prst="rect">
            <a:avLst/>
          </a:prstGeom>
          <a:noFill/>
          <a:ln/>
        </p:spPr>
        <p:txBody>
          <a:bodyPr wrap="square" lIns="0" tIns="0" rIns="0" bIns="0" rtlCol="0" anchor="ctr"/>
          <a:lstStyle/>
          <a:p>
            <a:pPr indent="0" marL="0">
              <a:buNone/>
            </a:pPr>
            <a:r>
              <a:rPr lang="en-US" sz="1250" b="1" spc="320" kern="0" dirty="0">
                <a:solidFill>
                  <a:srgbClr val="C9A24B"/>
                </a:solidFill>
                <a:latin typeface="Calibri" pitchFamily="34" charset="0"/>
                <a:ea typeface="Calibri" pitchFamily="34" charset="-122"/>
                <a:cs typeface="Calibri" pitchFamily="34" charset="-120"/>
              </a:rPr>
              <a:t>THE SHADOW YOU CAST</a:t>
            </a:r>
            <a:endParaRPr lang="en-US" sz="1250" dirty="0"/>
          </a:p>
        </p:txBody>
      </p:sp>
      <p:sp>
        <p:nvSpPr>
          <p:cNvPr id="6" name="Text 4"/>
          <p:cNvSpPr/>
          <p:nvPr/>
        </p:nvSpPr>
        <p:spPr>
          <a:xfrm>
            <a:off x="566928" y="1627632"/>
            <a:ext cx="8046720" cy="1554480"/>
          </a:xfrm>
          <a:prstGeom prst="rect">
            <a:avLst/>
          </a:prstGeom>
          <a:noFill/>
          <a:ln/>
          <a:effectLst>
            <a:outerShdw sx="100000" sy="100000" kx="0" ky="0" algn="bl" rotWithShape="0" blurRad="114300" dist="50800" dir="5400000">
              <a:srgbClr val="000000">
                <a:alpha val="30000"/>
              </a:srgbClr>
            </a:outerShdw>
          </a:effectLst>
        </p:spPr>
        <p:txBody>
          <a:bodyPr wrap="square" lIns="0" tIns="0" rIns="0" bIns="0" rtlCol="0" anchor="ctr"/>
          <a:lstStyle/>
          <a:p>
            <a:pPr indent="0" marL="0">
              <a:lnSpc>
                <a:spcPct val="100000"/>
              </a:lnSpc>
              <a:buNone/>
            </a:pPr>
            <a:r>
              <a:rPr lang="en-US" sz="4800" b="1" dirty="0">
                <a:solidFill>
                  <a:srgbClr val="F1ECDD"/>
                </a:solidFill>
                <a:latin typeface="Cambria" pitchFamily="34" charset="0"/>
                <a:ea typeface="Cambria" pitchFamily="34" charset="-122"/>
                <a:cs typeface="Cambria" pitchFamily="34" charset="-120"/>
              </a:rPr>
              <a:t>You cast a shadow</a:t>
            </a:r>
            <a:endParaRPr lang="en-US" sz="4800" dirty="0"/>
          </a:p>
          <a:p>
            <a:pPr indent="0" marL="0">
              <a:lnSpc>
                <a:spcPct val="100000"/>
              </a:lnSpc>
              <a:buNone/>
            </a:pPr>
            <a:r>
              <a:rPr lang="en-US" sz="4800" b="1" dirty="0">
                <a:solidFill>
                  <a:srgbClr val="F1ECDD"/>
                </a:solidFill>
                <a:latin typeface="Cambria" pitchFamily="34" charset="0"/>
                <a:ea typeface="Cambria" pitchFamily="34" charset="-122"/>
                <a:cs typeface="Cambria" pitchFamily="34" charset="-120"/>
              </a:rPr>
              <a:t>you cannot see.</a:t>
            </a:r>
            <a:endParaRPr lang="en-US" sz="4800" dirty="0"/>
          </a:p>
        </p:txBody>
      </p:sp>
      <p:sp>
        <p:nvSpPr>
          <p:cNvPr id="7" name="Text 5"/>
          <p:cNvSpPr/>
          <p:nvPr/>
        </p:nvSpPr>
        <p:spPr>
          <a:xfrm>
            <a:off x="566928" y="3401568"/>
            <a:ext cx="7680960" cy="1097280"/>
          </a:xfrm>
          <a:prstGeom prst="rect">
            <a:avLst/>
          </a:prstGeom>
          <a:noFill/>
          <a:ln/>
        </p:spPr>
        <p:txBody>
          <a:bodyPr wrap="square" lIns="0" tIns="0" rIns="0" bIns="0" rtlCol="0" anchor="ctr"/>
          <a:lstStyle/>
          <a:p>
            <a:pPr indent="0" marL="0">
              <a:lnSpc>
                <a:spcPct val="116000"/>
              </a:lnSpc>
              <a:buNone/>
            </a:pPr>
            <a:r>
              <a:rPr lang="en-US" sz="1700" dirty="0">
                <a:solidFill>
                  <a:srgbClr val="CFD5E0"/>
                </a:solidFill>
                <a:latin typeface="Calibri" pitchFamily="34" charset="0"/>
                <a:ea typeface="Calibri" pitchFamily="34" charset="-122"/>
                <a:cs typeface="Calibri" pitchFamily="34" charset="-120"/>
              </a:rPr>
              <a:t>Every click, message, route, and purchase is a trace of a real life. Yours. Gathered and kept, they become a detailed, searchable record of a single person: your digital shadow.</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A"/>
        </a:solidFill>
      </p:bgPr>
    </p:bg>
    <p:spTree>
      <p:nvGrpSpPr>
        <p:cNvPr id="1" name=""/>
        <p:cNvGrpSpPr/>
        <p:nvPr/>
      </p:nvGrpSpPr>
      <p:grpSpPr>
        <a:xfrm>
          <a:off x="0" y="0"/>
          <a:ext cx="0" cy="0"/>
          <a:chOff x="0" y="0"/>
          <a:chExt cx="0" cy="0"/>
        </a:xfrm>
      </p:grpSpPr>
      <p:sp>
        <p:nvSpPr>
          <p:cNvPr id="2" name="Shape 0"/>
          <p:cNvSpPr/>
          <p:nvPr/>
        </p:nvSpPr>
        <p:spPr>
          <a:xfrm rot="2700000">
            <a:off x="566928" y="365760"/>
            <a:ext cx="109728" cy="109728"/>
          </a:xfrm>
          <a:prstGeom prst="rect">
            <a:avLst/>
          </a:prstGeom>
          <a:solidFill>
            <a:srgbClr val="B08D3A"/>
          </a:solidFill>
          <a:ln/>
        </p:spPr>
      </p:sp>
      <p:sp>
        <p:nvSpPr>
          <p:cNvPr id="3" name="Text 1"/>
          <p:cNvSpPr/>
          <p:nvPr/>
        </p:nvSpPr>
        <p:spPr>
          <a:xfrm>
            <a:off x="786384" y="274320"/>
            <a:ext cx="3657600" cy="292608"/>
          </a:xfrm>
          <a:prstGeom prst="rect">
            <a:avLst/>
          </a:prstGeom>
          <a:noFill/>
          <a:ln/>
        </p:spPr>
        <p:txBody>
          <a:bodyPr wrap="square" lIns="0" tIns="0" rIns="0" bIns="0" rtlCol="0" anchor="ctr"/>
          <a:lstStyle/>
          <a:p>
            <a:pPr indent="0" marL="0">
              <a:buNone/>
            </a:pPr>
            <a:r>
              <a:rPr lang="en-US" sz="1150" b="1" spc="300" kern="0" dirty="0">
                <a:solidFill>
                  <a:srgbClr val="1B2A4A"/>
                </a:solidFill>
                <a:latin typeface="Calibri" pitchFamily="34" charset="0"/>
                <a:ea typeface="Calibri" pitchFamily="34" charset="-122"/>
                <a:cs typeface="Calibri" pitchFamily="34" charset="-120"/>
              </a:rPr>
              <a:t>WE THE USERS</a:t>
            </a:r>
            <a:endParaRPr lang="en-US" sz="1150" dirty="0"/>
          </a:p>
        </p:txBody>
      </p:sp>
      <p:sp>
        <p:nvSpPr>
          <p:cNvPr id="4" name="Text 2"/>
          <p:cNvSpPr/>
          <p:nvPr/>
        </p:nvSpPr>
        <p:spPr>
          <a:xfrm>
            <a:off x="8138160" y="4668012"/>
            <a:ext cx="457200" cy="274320"/>
          </a:xfrm>
          <a:prstGeom prst="rect">
            <a:avLst/>
          </a:prstGeom>
          <a:noFill/>
          <a:ln/>
        </p:spPr>
        <p:txBody>
          <a:bodyPr wrap="square" lIns="0" tIns="0" rIns="0" bIns="0" rtlCol="0" anchor="ctr"/>
          <a:lstStyle/>
          <a:p>
            <a:pPr algn="r" indent="0" marL="0">
              <a:buNone/>
            </a:pPr>
            <a:r>
              <a:rPr lang="en-US" sz="1000" dirty="0">
                <a:solidFill>
                  <a:srgbClr val="76716A"/>
                </a:solidFill>
                <a:latin typeface="Calibri" pitchFamily="34" charset="0"/>
                <a:ea typeface="Calibri" pitchFamily="34" charset="-122"/>
                <a:cs typeface="Calibri" pitchFamily="34" charset="-120"/>
              </a:rPr>
              <a:t>3</a:t>
            </a:r>
            <a:endParaRPr lang="en-US" sz="1000" dirty="0"/>
          </a:p>
        </p:txBody>
      </p:sp>
      <p:sp>
        <p:nvSpPr>
          <p:cNvPr id="5" name="Text 3"/>
          <p:cNvSpPr/>
          <p:nvPr/>
        </p:nvSpPr>
        <p:spPr>
          <a:xfrm>
            <a:off x="566928" y="1234440"/>
            <a:ext cx="7315200" cy="274320"/>
          </a:xfrm>
          <a:prstGeom prst="rect">
            <a:avLst/>
          </a:prstGeom>
          <a:noFill/>
          <a:ln/>
        </p:spPr>
        <p:txBody>
          <a:bodyPr wrap="square" lIns="0" tIns="0" rIns="0" bIns="0" rtlCol="0" anchor="ctr"/>
          <a:lstStyle/>
          <a:p>
            <a:pPr indent="0" marL="0">
              <a:buNone/>
            </a:pPr>
            <a:r>
              <a:rPr lang="en-US" sz="1250" b="1" spc="320" kern="0" dirty="0">
                <a:solidFill>
                  <a:srgbClr val="B08D3A"/>
                </a:solidFill>
                <a:latin typeface="Calibri" pitchFamily="34" charset="0"/>
                <a:ea typeface="Calibri" pitchFamily="34" charset="-122"/>
                <a:cs typeface="Calibri" pitchFamily="34" charset="-120"/>
              </a:rPr>
              <a:t>THE BARGAIN WE NEVER AGREED TO</a:t>
            </a:r>
            <a:endParaRPr lang="en-US" sz="1250" dirty="0"/>
          </a:p>
        </p:txBody>
      </p:sp>
      <p:sp>
        <p:nvSpPr>
          <p:cNvPr id="6" name="Text 4"/>
          <p:cNvSpPr/>
          <p:nvPr/>
        </p:nvSpPr>
        <p:spPr>
          <a:xfrm>
            <a:off x="566928" y="1591056"/>
            <a:ext cx="8229600" cy="1481328"/>
          </a:xfrm>
          <a:prstGeom prst="rect">
            <a:avLst/>
          </a:prstGeom>
          <a:noFill/>
          <a:ln/>
          <a:effectLst>
            <a:outerShdw sx="100000" sy="100000" kx="0" ky="0" algn="bl" rotWithShape="0" blurRad="88900" dist="38100" dir="5400000">
              <a:srgbClr val="B9B097">
                <a:alpha val="40000"/>
              </a:srgbClr>
            </a:outerShdw>
          </a:effectLst>
        </p:spPr>
        <p:txBody>
          <a:bodyPr wrap="square" lIns="0" tIns="0" rIns="0" bIns="0" rtlCol="0" anchor="ctr"/>
          <a:lstStyle/>
          <a:p>
            <a:pPr indent="0" marL="0">
              <a:lnSpc>
                <a:spcPct val="100000"/>
              </a:lnSpc>
              <a:buNone/>
            </a:pPr>
            <a:r>
              <a:rPr lang="en-US" sz="4600" b="1" dirty="0">
                <a:solidFill>
                  <a:srgbClr val="1B2A4A"/>
                </a:solidFill>
                <a:latin typeface="Cambria" pitchFamily="34" charset="0"/>
                <a:ea typeface="Cambria" pitchFamily="34" charset="-122"/>
                <a:cs typeface="Cambria" pitchFamily="34" charset="-120"/>
              </a:rPr>
              <a:t>We the Users have become</a:t>
            </a:r>
            <a:endParaRPr lang="en-US" sz="4600" dirty="0"/>
          </a:p>
          <a:p>
            <a:pPr indent="0" marL="0">
              <a:lnSpc>
                <a:spcPct val="100000"/>
              </a:lnSpc>
              <a:buNone/>
            </a:pPr>
            <a:r>
              <a:rPr lang="en-US" sz="4600" b="1" i="1" dirty="0">
                <a:solidFill>
                  <a:srgbClr val="B08D3A"/>
                </a:solidFill>
                <a:latin typeface="Cambria" pitchFamily="34" charset="0"/>
                <a:ea typeface="Cambria" pitchFamily="34" charset="-122"/>
                <a:cs typeface="Cambria" pitchFamily="34" charset="-120"/>
              </a:rPr>
              <a:t>we the used.</a:t>
            </a:r>
            <a:endParaRPr lang="en-US" sz="4600" dirty="0"/>
          </a:p>
        </p:txBody>
      </p:sp>
      <p:sp>
        <p:nvSpPr>
          <p:cNvPr id="7" name="Text 5"/>
          <p:cNvSpPr/>
          <p:nvPr/>
        </p:nvSpPr>
        <p:spPr>
          <a:xfrm>
            <a:off x="566928" y="3246120"/>
            <a:ext cx="5074920" cy="1280160"/>
          </a:xfrm>
          <a:prstGeom prst="rect">
            <a:avLst/>
          </a:prstGeom>
          <a:noFill/>
          <a:ln/>
        </p:spPr>
        <p:txBody>
          <a:bodyPr wrap="square" lIns="0" tIns="0" rIns="0" bIns="0" rtlCol="0" anchor="ctr"/>
          <a:lstStyle/>
          <a:p>
            <a:pPr indent="0" marL="0">
              <a:lnSpc>
                <a:spcPct val="118000"/>
              </a:lnSpc>
              <a:buNone/>
            </a:pPr>
            <a:r>
              <a:rPr lang="en-US" sz="1650" dirty="0">
                <a:solidFill>
                  <a:srgbClr val="3B4663"/>
                </a:solidFill>
                <a:latin typeface="Calibri" pitchFamily="34" charset="0"/>
                <a:ea typeface="Calibri" pitchFamily="34" charset="-122"/>
                <a:cs typeface="Calibri" pitchFamily="34" charset="-120"/>
              </a:rPr>
              <a:t>Your digital shadow is taken without leave, and the value built on it, above all the new artificial intelligence, flows to the few who hold it.</a:t>
            </a:r>
            <a:endParaRPr lang="en-US" sz="1650" dirty="0"/>
          </a:p>
        </p:txBody>
      </p:sp>
      <p:sp>
        <p:nvSpPr>
          <p:cNvPr id="8" name="Shape 6"/>
          <p:cNvSpPr/>
          <p:nvPr/>
        </p:nvSpPr>
        <p:spPr>
          <a:xfrm>
            <a:off x="5897880" y="3246120"/>
            <a:ext cx="1600200" cy="1234440"/>
          </a:xfrm>
          <a:prstGeom prst="roundRect">
            <a:avLst>
              <a:gd name="adj" fmla="val 5926"/>
            </a:avLst>
          </a:prstGeom>
          <a:solidFill>
            <a:srgbClr val="FBF8F0"/>
          </a:solidFill>
          <a:ln/>
          <a:effectLst>
            <a:outerShdw sx="100000" sy="100000" kx="0" ky="0" algn="bl" rotWithShape="0" blurRad="88900" dist="25400" dir="5400000">
              <a:srgbClr val="9A927C">
                <a:alpha val="22000"/>
              </a:srgbClr>
            </a:outerShdw>
          </a:effectLst>
        </p:spPr>
      </p:sp>
      <p:sp>
        <p:nvSpPr>
          <p:cNvPr id="9" name="Text 7"/>
          <p:cNvSpPr/>
          <p:nvPr/>
        </p:nvSpPr>
        <p:spPr>
          <a:xfrm>
            <a:off x="5897880" y="3419856"/>
            <a:ext cx="1600200" cy="548640"/>
          </a:xfrm>
          <a:prstGeom prst="rect">
            <a:avLst/>
          </a:prstGeom>
          <a:noFill/>
          <a:ln/>
        </p:spPr>
        <p:txBody>
          <a:bodyPr wrap="square" lIns="0" tIns="0" rIns="0" bIns="0" rtlCol="0" anchor="ctr"/>
          <a:lstStyle/>
          <a:p>
            <a:pPr algn="ctr" indent="0" marL="0">
              <a:buNone/>
            </a:pPr>
            <a:r>
              <a:rPr lang="en-US" sz="3400" b="1" dirty="0">
                <a:solidFill>
                  <a:srgbClr val="B08D3A"/>
                </a:solidFill>
                <a:latin typeface="Cambria" pitchFamily="34" charset="0"/>
                <a:ea typeface="Cambria" pitchFamily="34" charset="-122"/>
                <a:cs typeface="Cambria" pitchFamily="34" charset="-120"/>
              </a:rPr>
              <a:t>No</a:t>
            </a:r>
            <a:endParaRPr lang="en-US" sz="3400" dirty="0"/>
          </a:p>
        </p:txBody>
      </p:sp>
      <p:sp>
        <p:nvSpPr>
          <p:cNvPr id="10" name="Text 8"/>
          <p:cNvSpPr/>
          <p:nvPr/>
        </p:nvSpPr>
        <p:spPr>
          <a:xfrm>
            <a:off x="5897880" y="3986784"/>
            <a:ext cx="1600200" cy="411480"/>
          </a:xfrm>
          <a:prstGeom prst="rect">
            <a:avLst/>
          </a:prstGeom>
          <a:noFill/>
          <a:ln/>
        </p:spPr>
        <p:txBody>
          <a:bodyPr wrap="square" lIns="0" tIns="0" rIns="0" bIns="0" rtlCol="0" anchor="ctr"/>
          <a:lstStyle/>
          <a:p>
            <a:pPr algn="ctr" indent="0" marL="0">
              <a:buNone/>
            </a:pPr>
            <a:r>
              <a:rPr lang="en-US" sz="1250" b="1" spc="100" kern="0" dirty="0">
                <a:solidFill>
                  <a:srgbClr val="1B2A4A"/>
                </a:solidFill>
                <a:latin typeface="Calibri" pitchFamily="34" charset="0"/>
                <a:ea typeface="Calibri" pitchFamily="34" charset="-122"/>
                <a:cs typeface="Calibri" pitchFamily="34" charset="-120"/>
              </a:rPr>
              <a:t>SAY</a:t>
            </a:r>
            <a:endParaRPr lang="en-US" sz="1250" dirty="0"/>
          </a:p>
        </p:txBody>
      </p:sp>
      <p:sp>
        <p:nvSpPr>
          <p:cNvPr id="11" name="Shape 9"/>
          <p:cNvSpPr/>
          <p:nvPr/>
        </p:nvSpPr>
        <p:spPr>
          <a:xfrm>
            <a:off x="7589520" y="3246120"/>
            <a:ext cx="1600200" cy="1234440"/>
          </a:xfrm>
          <a:prstGeom prst="roundRect">
            <a:avLst>
              <a:gd name="adj" fmla="val 5926"/>
            </a:avLst>
          </a:prstGeom>
          <a:solidFill>
            <a:srgbClr val="FBF8F0"/>
          </a:solidFill>
          <a:ln/>
          <a:effectLst>
            <a:outerShdw sx="100000" sy="100000" kx="0" ky="0" algn="bl" rotWithShape="0" blurRad="88900" dist="25400" dir="5400000">
              <a:srgbClr val="9A927C">
                <a:alpha val="22000"/>
              </a:srgbClr>
            </a:outerShdw>
          </a:effectLst>
        </p:spPr>
      </p:sp>
      <p:sp>
        <p:nvSpPr>
          <p:cNvPr id="12" name="Text 10"/>
          <p:cNvSpPr/>
          <p:nvPr/>
        </p:nvSpPr>
        <p:spPr>
          <a:xfrm>
            <a:off x="7589520" y="3419856"/>
            <a:ext cx="1600200" cy="548640"/>
          </a:xfrm>
          <a:prstGeom prst="rect">
            <a:avLst/>
          </a:prstGeom>
          <a:noFill/>
          <a:ln/>
        </p:spPr>
        <p:txBody>
          <a:bodyPr wrap="square" lIns="0" tIns="0" rIns="0" bIns="0" rtlCol="0" anchor="ctr"/>
          <a:lstStyle/>
          <a:p>
            <a:pPr algn="ctr" indent="0" marL="0">
              <a:buNone/>
            </a:pPr>
            <a:r>
              <a:rPr lang="en-US" sz="3400" b="1" dirty="0">
                <a:solidFill>
                  <a:srgbClr val="B08D3A"/>
                </a:solidFill>
                <a:latin typeface="Cambria" pitchFamily="34" charset="0"/>
                <a:ea typeface="Cambria" pitchFamily="34" charset="-122"/>
                <a:cs typeface="Cambria" pitchFamily="34" charset="-120"/>
              </a:rPr>
              <a:t>No</a:t>
            </a:r>
            <a:endParaRPr lang="en-US" sz="3400" dirty="0"/>
          </a:p>
        </p:txBody>
      </p:sp>
      <p:sp>
        <p:nvSpPr>
          <p:cNvPr id="13" name="Text 11"/>
          <p:cNvSpPr/>
          <p:nvPr/>
        </p:nvSpPr>
        <p:spPr>
          <a:xfrm>
            <a:off x="7589520" y="3986784"/>
            <a:ext cx="1600200" cy="411480"/>
          </a:xfrm>
          <a:prstGeom prst="rect">
            <a:avLst/>
          </a:prstGeom>
          <a:noFill/>
          <a:ln/>
        </p:spPr>
        <p:txBody>
          <a:bodyPr wrap="square" lIns="0" tIns="0" rIns="0" bIns="0" rtlCol="0" anchor="ctr"/>
          <a:lstStyle/>
          <a:p>
            <a:pPr algn="ctr" indent="0" marL="0">
              <a:buNone/>
            </a:pPr>
            <a:r>
              <a:rPr lang="en-US" sz="1250" b="1" spc="100" kern="0" dirty="0">
                <a:solidFill>
                  <a:srgbClr val="1B2A4A"/>
                </a:solidFill>
                <a:latin typeface="Calibri" pitchFamily="34" charset="0"/>
                <a:ea typeface="Calibri" pitchFamily="34" charset="-122"/>
                <a:cs typeface="Calibri" pitchFamily="34" charset="-120"/>
              </a:rPr>
              <a:t>SHARE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A4A"/>
        </a:solidFill>
      </p:bgPr>
    </p:bg>
    <p:spTree>
      <p:nvGrpSpPr>
        <p:cNvPr id="1" name=""/>
        <p:cNvGrpSpPr/>
        <p:nvPr/>
      </p:nvGrpSpPr>
      <p:grpSpPr>
        <a:xfrm>
          <a:off x="0" y="0"/>
          <a:ext cx="0" cy="0"/>
          <a:chOff x="0" y="0"/>
          <a:chExt cx="0" cy="0"/>
        </a:xfrm>
      </p:grpSpPr>
      <p:sp>
        <p:nvSpPr>
          <p:cNvPr id="2" name="Shape 0"/>
          <p:cNvSpPr/>
          <p:nvPr/>
        </p:nvSpPr>
        <p:spPr>
          <a:xfrm rot="2700000">
            <a:off x="566928" y="365760"/>
            <a:ext cx="109728" cy="109728"/>
          </a:xfrm>
          <a:prstGeom prst="rect">
            <a:avLst/>
          </a:prstGeom>
          <a:solidFill>
            <a:srgbClr val="B08D3A"/>
          </a:solidFill>
          <a:ln/>
        </p:spPr>
      </p:sp>
      <p:sp>
        <p:nvSpPr>
          <p:cNvPr id="3" name="Text 1"/>
          <p:cNvSpPr/>
          <p:nvPr/>
        </p:nvSpPr>
        <p:spPr>
          <a:xfrm>
            <a:off x="786384" y="274320"/>
            <a:ext cx="3657600" cy="292608"/>
          </a:xfrm>
          <a:prstGeom prst="rect">
            <a:avLst/>
          </a:prstGeom>
          <a:noFill/>
          <a:ln/>
        </p:spPr>
        <p:txBody>
          <a:bodyPr wrap="square" lIns="0" tIns="0" rIns="0" bIns="0" rtlCol="0" anchor="ctr"/>
          <a:lstStyle/>
          <a:p>
            <a:pPr indent="0" marL="0">
              <a:buNone/>
            </a:pPr>
            <a:r>
              <a:rPr lang="en-US" sz="1150" b="1" spc="300" kern="0" dirty="0">
                <a:solidFill>
                  <a:srgbClr val="F1ECDD"/>
                </a:solidFill>
                <a:latin typeface="Calibri" pitchFamily="34" charset="0"/>
                <a:ea typeface="Calibri" pitchFamily="34" charset="-122"/>
                <a:cs typeface="Calibri" pitchFamily="34" charset="-120"/>
              </a:rPr>
              <a:t>WE THE USERS</a:t>
            </a:r>
            <a:endParaRPr lang="en-US" sz="1150" dirty="0"/>
          </a:p>
        </p:txBody>
      </p:sp>
      <p:sp>
        <p:nvSpPr>
          <p:cNvPr id="4" name="Text 2"/>
          <p:cNvSpPr/>
          <p:nvPr/>
        </p:nvSpPr>
        <p:spPr>
          <a:xfrm>
            <a:off x="8138160" y="4668012"/>
            <a:ext cx="457200" cy="274320"/>
          </a:xfrm>
          <a:prstGeom prst="rect">
            <a:avLst/>
          </a:prstGeom>
          <a:noFill/>
          <a:ln/>
        </p:spPr>
        <p:txBody>
          <a:bodyPr wrap="square" lIns="0" tIns="0" rIns="0" bIns="0" rtlCol="0" anchor="ctr"/>
          <a:lstStyle/>
          <a:p>
            <a:pPr algn="r" indent="0" marL="0">
              <a:buNone/>
            </a:pPr>
            <a:r>
              <a:rPr lang="en-US" sz="1000" dirty="0">
                <a:solidFill>
                  <a:srgbClr val="9AA6BC"/>
                </a:solidFill>
                <a:latin typeface="Calibri" pitchFamily="34" charset="0"/>
                <a:ea typeface="Calibri" pitchFamily="34" charset="-122"/>
                <a:cs typeface="Calibri" pitchFamily="34" charset="-120"/>
              </a:rPr>
              <a:t>4</a:t>
            </a:r>
            <a:endParaRPr lang="en-US" sz="1000" dirty="0"/>
          </a:p>
        </p:txBody>
      </p:sp>
      <p:sp>
        <p:nvSpPr>
          <p:cNvPr id="5" name="Text 3"/>
          <p:cNvSpPr/>
          <p:nvPr/>
        </p:nvSpPr>
        <p:spPr>
          <a:xfrm>
            <a:off x="566928" y="749808"/>
            <a:ext cx="7315200" cy="274320"/>
          </a:xfrm>
          <a:prstGeom prst="rect">
            <a:avLst/>
          </a:prstGeom>
          <a:noFill/>
          <a:ln/>
        </p:spPr>
        <p:txBody>
          <a:bodyPr wrap="square" lIns="0" tIns="0" rIns="0" bIns="0" rtlCol="0" anchor="ctr"/>
          <a:lstStyle/>
          <a:p>
            <a:pPr indent="0" marL="0">
              <a:buNone/>
            </a:pPr>
            <a:r>
              <a:rPr lang="en-US" sz="1250" b="1" spc="320" kern="0" dirty="0">
                <a:solidFill>
                  <a:srgbClr val="C9A24B"/>
                </a:solidFill>
                <a:latin typeface="Calibri" pitchFamily="34" charset="0"/>
                <a:ea typeface="Calibri" pitchFamily="34" charset="-122"/>
                <a:cs typeface="Calibri" pitchFamily="34" charset="-120"/>
              </a:rPr>
              <a:t>THE PROBLEM</a:t>
            </a:r>
            <a:endParaRPr lang="en-US" sz="1250" dirty="0"/>
          </a:p>
        </p:txBody>
      </p:sp>
      <p:sp>
        <p:nvSpPr>
          <p:cNvPr id="6" name="Shape 4"/>
          <p:cNvSpPr/>
          <p:nvPr/>
        </p:nvSpPr>
        <p:spPr>
          <a:xfrm>
            <a:off x="2429858" y="1078992"/>
            <a:ext cx="4284284" cy="3730752"/>
          </a:xfrm>
          <a:prstGeom prst="rect">
            <a:avLst/>
          </a:prstGeom>
          <a:solidFill>
            <a:srgbClr val="F1ECDD"/>
          </a:solidFill>
          <a:ln/>
        </p:spPr>
      </p:sp>
      <p:pic>
        <p:nvPicPr>
          <p:cNvPr id="7" name="Image 0" descr="assets/cartoon-used.png">    </p:cNvPr>
          <p:cNvPicPr>
            <a:picLocks noChangeAspect="1"/>
          </p:cNvPicPr>
          <p:nvPr/>
        </p:nvPicPr>
        <p:blipFill>
          <a:blip r:embed="rId1"/>
          <a:stretch>
            <a:fillRect/>
          </a:stretch>
        </p:blipFill>
        <p:spPr>
          <a:xfrm>
            <a:off x="2484722" y="1133856"/>
            <a:ext cx="4174556" cy="3621024"/>
          </a:xfrm>
          <a:prstGeom prst="rect">
            <a:avLst/>
          </a:prstGeom>
          <a:effectLst>
            <a:outerShdw sx="100000" sy="100000" kx="0" ky="0" algn="bl" rotWithShape="0" blurRad="127000" dist="63500" dir="5400000">
              <a:srgbClr val="000000">
                <a:alpha val="42000"/>
              </a:srgbClr>
            </a:outerShdw>
          </a:effectLst>
        </p:spPr>
      </p:pic>
      <p:sp>
        <p:nvSpPr>
          <p:cNvPr id="8" name="Shape 5"/>
          <p:cNvSpPr/>
          <p:nvPr/>
        </p:nvSpPr>
        <p:spPr>
          <a:xfrm>
            <a:off x="2429858" y="1078992"/>
            <a:ext cx="4284284" cy="3730752"/>
          </a:xfrm>
          <a:prstGeom prst="rect">
            <a:avLst/>
          </a:prstGeom>
          <a:ln w="12700">
            <a:solidFill>
              <a:srgbClr val="B08D3A"/>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2A4A"/>
        </a:solidFill>
      </p:bgPr>
    </p:bg>
    <p:spTree>
      <p:nvGrpSpPr>
        <p:cNvPr id="1" name=""/>
        <p:cNvGrpSpPr/>
        <p:nvPr/>
      </p:nvGrpSpPr>
      <p:grpSpPr>
        <a:xfrm>
          <a:off x="0" y="0"/>
          <a:ext cx="0" cy="0"/>
          <a:chOff x="0" y="0"/>
          <a:chExt cx="0" cy="0"/>
        </a:xfrm>
      </p:grpSpPr>
      <p:sp>
        <p:nvSpPr>
          <p:cNvPr id="2" name="Shape 0"/>
          <p:cNvSpPr/>
          <p:nvPr/>
        </p:nvSpPr>
        <p:spPr>
          <a:xfrm rot="2700000">
            <a:off x="566928" y="365760"/>
            <a:ext cx="109728" cy="109728"/>
          </a:xfrm>
          <a:prstGeom prst="rect">
            <a:avLst/>
          </a:prstGeom>
          <a:solidFill>
            <a:srgbClr val="B08D3A"/>
          </a:solidFill>
          <a:ln/>
        </p:spPr>
      </p:sp>
      <p:sp>
        <p:nvSpPr>
          <p:cNvPr id="3" name="Text 1"/>
          <p:cNvSpPr/>
          <p:nvPr/>
        </p:nvSpPr>
        <p:spPr>
          <a:xfrm>
            <a:off x="786384" y="274320"/>
            <a:ext cx="3657600" cy="292608"/>
          </a:xfrm>
          <a:prstGeom prst="rect">
            <a:avLst/>
          </a:prstGeom>
          <a:noFill/>
          <a:ln/>
        </p:spPr>
        <p:txBody>
          <a:bodyPr wrap="square" lIns="0" tIns="0" rIns="0" bIns="0" rtlCol="0" anchor="ctr"/>
          <a:lstStyle/>
          <a:p>
            <a:pPr indent="0" marL="0">
              <a:buNone/>
            </a:pPr>
            <a:r>
              <a:rPr lang="en-US" sz="1150" b="1" spc="300" kern="0" dirty="0">
                <a:solidFill>
                  <a:srgbClr val="F1ECDD"/>
                </a:solidFill>
                <a:latin typeface="Calibri" pitchFamily="34" charset="0"/>
                <a:ea typeface="Calibri" pitchFamily="34" charset="-122"/>
                <a:cs typeface="Calibri" pitchFamily="34" charset="-120"/>
              </a:rPr>
              <a:t>WE THE USERS</a:t>
            </a:r>
            <a:endParaRPr lang="en-US" sz="1150" dirty="0"/>
          </a:p>
        </p:txBody>
      </p:sp>
      <p:sp>
        <p:nvSpPr>
          <p:cNvPr id="4" name="Text 2"/>
          <p:cNvSpPr/>
          <p:nvPr/>
        </p:nvSpPr>
        <p:spPr>
          <a:xfrm>
            <a:off x="8138160" y="4668012"/>
            <a:ext cx="457200" cy="274320"/>
          </a:xfrm>
          <a:prstGeom prst="rect">
            <a:avLst/>
          </a:prstGeom>
          <a:noFill/>
          <a:ln/>
        </p:spPr>
        <p:txBody>
          <a:bodyPr wrap="square" lIns="0" tIns="0" rIns="0" bIns="0" rtlCol="0" anchor="ctr"/>
          <a:lstStyle/>
          <a:p>
            <a:pPr algn="r" indent="0" marL="0">
              <a:buNone/>
            </a:pPr>
            <a:r>
              <a:rPr lang="en-US" sz="1000" dirty="0">
                <a:solidFill>
                  <a:srgbClr val="9AA6BC"/>
                </a:solidFill>
                <a:latin typeface="Calibri" pitchFamily="34" charset="0"/>
                <a:ea typeface="Calibri" pitchFamily="34" charset="-122"/>
                <a:cs typeface="Calibri" pitchFamily="34" charset="-120"/>
              </a:rPr>
              <a:t>5</a:t>
            </a:r>
            <a:endParaRPr lang="en-US" sz="1000" dirty="0"/>
          </a:p>
        </p:txBody>
      </p:sp>
      <p:sp>
        <p:nvSpPr>
          <p:cNvPr id="5" name="Text 3"/>
          <p:cNvSpPr/>
          <p:nvPr/>
        </p:nvSpPr>
        <p:spPr>
          <a:xfrm>
            <a:off x="566928" y="1325880"/>
            <a:ext cx="7315200" cy="274320"/>
          </a:xfrm>
          <a:prstGeom prst="rect">
            <a:avLst/>
          </a:prstGeom>
          <a:noFill/>
          <a:ln/>
        </p:spPr>
        <p:txBody>
          <a:bodyPr wrap="square" lIns="0" tIns="0" rIns="0" bIns="0" rtlCol="0" anchor="ctr"/>
          <a:lstStyle/>
          <a:p>
            <a:pPr indent="0" marL="0">
              <a:buNone/>
            </a:pPr>
            <a:r>
              <a:rPr lang="en-US" sz="1250" b="1" spc="320" kern="0" dirty="0">
                <a:solidFill>
                  <a:srgbClr val="C9A24B"/>
                </a:solidFill>
                <a:latin typeface="Calibri" pitchFamily="34" charset="0"/>
                <a:ea typeface="Calibri" pitchFamily="34" charset="-122"/>
                <a:cs typeface="Calibri" pitchFamily="34" charset="-120"/>
              </a:rPr>
              <a:t>IT WAS A CHOICE</a:t>
            </a:r>
            <a:endParaRPr lang="en-US" sz="1250" dirty="0"/>
          </a:p>
        </p:txBody>
      </p:sp>
      <p:sp>
        <p:nvSpPr>
          <p:cNvPr id="6" name="Text 4"/>
          <p:cNvSpPr/>
          <p:nvPr/>
        </p:nvSpPr>
        <p:spPr>
          <a:xfrm>
            <a:off x="566928" y="1737360"/>
            <a:ext cx="8229600" cy="914400"/>
          </a:xfrm>
          <a:prstGeom prst="rect">
            <a:avLst/>
          </a:prstGeom>
          <a:noFill/>
          <a:ln/>
          <a:effectLst>
            <a:outerShdw sx="100000" sy="100000" kx="0" ky="0" algn="bl" rotWithShape="0" blurRad="114300" dist="50800" dir="5400000">
              <a:srgbClr val="000000">
                <a:alpha val="30000"/>
              </a:srgbClr>
            </a:outerShdw>
          </a:effectLst>
        </p:spPr>
        <p:txBody>
          <a:bodyPr wrap="square" lIns="0" tIns="0" rIns="0" bIns="0" rtlCol="0" anchor="ctr"/>
          <a:lstStyle/>
          <a:p>
            <a:pPr indent="0" marL="0">
              <a:buNone/>
            </a:pPr>
            <a:r>
              <a:rPr lang="en-US" sz="5400" b="1" dirty="0">
                <a:solidFill>
                  <a:srgbClr val="F1ECDD"/>
                </a:solidFill>
                <a:latin typeface="Cambria" pitchFamily="34" charset="0"/>
                <a:ea typeface="Cambria" pitchFamily="34" charset="-122"/>
                <a:cs typeface="Cambria" pitchFamily="34" charset="-120"/>
              </a:rPr>
              <a:t>It is not the weather.</a:t>
            </a:r>
            <a:endParaRPr lang="en-US" sz="5400" dirty="0"/>
          </a:p>
        </p:txBody>
      </p:sp>
      <p:sp>
        <p:nvSpPr>
          <p:cNvPr id="7" name="Text 5"/>
          <p:cNvSpPr/>
          <p:nvPr/>
        </p:nvSpPr>
        <p:spPr>
          <a:xfrm>
            <a:off x="566928" y="2971800"/>
            <a:ext cx="7863840" cy="1463040"/>
          </a:xfrm>
          <a:prstGeom prst="rect">
            <a:avLst/>
          </a:prstGeom>
          <a:noFill/>
          <a:ln/>
        </p:spPr>
        <p:txBody>
          <a:bodyPr wrap="square" lIns="0" tIns="0" rIns="0" bIns="0" rtlCol="0" anchor="ctr"/>
          <a:lstStyle/>
          <a:p>
            <a:pPr indent="0" marL="0">
              <a:lnSpc>
                <a:spcPct val="118000"/>
              </a:lnSpc>
              <a:buNone/>
            </a:pPr>
            <a:r>
              <a:rPr lang="en-US" sz="1900" dirty="0">
                <a:solidFill>
                  <a:srgbClr val="CFD5E0"/>
                </a:solidFill>
                <a:latin typeface="Calibri" pitchFamily="34" charset="0"/>
                <a:ea typeface="Calibri" pitchFamily="34" charset="-122"/>
                <a:cs typeface="Calibri" pitchFamily="34" charset="-120"/>
              </a:rPr>
              <a:t>We have been taught to call all of this normal: the fixed and unalterable weather of the modern world.</a:t>
            </a:r>
            <a:endParaRPr lang="en-US" sz="1900" dirty="0"/>
          </a:p>
          <a:p>
            <a:pPr indent="0" marL="0">
              <a:lnSpc>
                <a:spcPct val="118000"/>
              </a:lnSpc>
              <a:buNone/>
            </a:pPr>
            <a:endParaRPr lang="en-US" sz="1900" dirty="0"/>
          </a:p>
          <a:p>
            <a:pPr indent="0" marL="0">
              <a:lnSpc>
                <a:spcPct val="118000"/>
              </a:lnSpc>
              <a:buNone/>
            </a:pPr>
            <a:r>
              <a:rPr lang="en-US" sz="1900" b="1" dirty="0">
                <a:solidFill>
                  <a:srgbClr val="C9A24B"/>
                </a:solidFill>
                <a:latin typeface="Calibri" pitchFamily="34" charset="0"/>
                <a:ea typeface="Calibri" pitchFamily="34" charset="-122"/>
                <a:cs typeface="Calibri" pitchFamily="34" charset="-120"/>
              </a:rPr>
              <a:t>It was built. And it can be built differently.</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A"/>
        </a:solidFill>
      </p:bgPr>
    </p:bg>
    <p:spTree>
      <p:nvGrpSpPr>
        <p:cNvPr id="1" name=""/>
        <p:cNvGrpSpPr/>
        <p:nvPr/>
      </p:nvGrpSpPr>
      <p:grpSpPr>
        <a:xfrm>
          <a:off x="0" y="0"/>
          <a:ext cx="0" cy="0"/>
          <a:chOff x="0" y="0"/>
          <a:chExt cx="0" cy="0"/>
        </a:xfrm>
      </p:grpSpPr>
      <p:sp>
        <p:nvSpPr>
          <p:cNvPr id="2" name="Shape 0"/>
          <p:cNvSpPr/>
          <p:nvPr/>
        </p:nvSpPr>
        <p:spPr>
          <a:xfrm rot="2700000">
            <a:off x="566928" y="365760"/>
            <a:ext cx="109728" cy="109728"/>
          </a:xfrm>
          <a:prstGeom prst="rect">
            <a:avLst/>
          </a:prstGeom>
          <a:solidFill>
            <a:srgbClr val="B08D3A"/>
          </a:solidFill>
          <a:ln/>
        </p:spPr>
      </p:sp>
      <p:sp>
        <p:nvSpPr>
          <p:cNvPr id="3" name="Text 1"/>
          <p:cNvSpPr/>
          <p:nvPr/>
        </p:nvSpPr>
        <p:spPr>
          <a:xfrm>
            <a:off x="786384" y="274320"/>
            <a:ext cx="3657600" cy="292608"/>
          </a:xfrm>
          <a:prstGeom prst="rect">
            <a:avLst/>
          </a:prstGeom>
          <a:noFill/>
          <a:ln/>
        </p:spPr>
        <p:txBody>
          <a:bodyPr wrap="square" lIns="0" tIns="0" rIns="0" bIns="0" rtlCol="0" anchor="ctr"/>
          <a:lstStyle/>
          <a:p>
            <a:pPr indent="0" marL="0">
              <a:buNone/>
            </a:pPr>
            <a:r>
              <a:rPr lang="en-US" sz="1150" b="1" spc="300" kern="0" dirty="0">
                <a:solidFill>
                  <a:srgbClr val="1B2A4A"/>
                </a:solidFill>
                <a:latin typeface="Calibri" pitchFamily="34" charset="0"/>
                <a:ea typeface="Calibri" pitchFamily="34" charset="-122"/>
                <a:cs typeface="Calibri" pitchFamily="34" charset="-120"/>
              </a:rPr>
              <a:t>WE THE USERS</a:t>
            </a:r>
            <a:endParaRPr lang="en-US" sz="1150" dirty="0"/>
          </a:p>
        </p:txBody>
      </p:sp>
      <p:sp>
        <p:nvSpPr>
          <p:cNvPr id="4" name="Text 2"/>
          <p:cNvSpPr/>
          <p:nvPr/>
        </p:nvSpPr>
        <p:spPr>
          <a:xfrm>
            <a:off x="8138160" y="4668012"/>
            <a:ext cx="457200" cy="274320"/>
          </a:xfrm>
          <a:prstGeom prst="rect">
            <a:avLst/>
          </a:prstGeom>
          <a:noFill/>
          <a:ln/>
        </p:spPr>
        <p:txBody>
          <a:bodyPr wrap="square" lIns="0" tIns="0" rIns="0" bIns="0" rtlCol="0" anchor="ctr"/>
          <a:lstStyle/>
          <a:p>
            <a:pPr algn="r" indent="0" marL="0">
              <a:buNone/>
            </a:pPr>
            <a:r>
              <a:rPr lang="en-US" sz="1000" dirty="0">
                <a:solidFill>
                  <a:srgbClr val="76716A"/>
                </a:solidFill>
                <a:latin typeface="Calibri" pitchFamily="34" charset="0"/>
                <a:ea typeface="Calibri" pitchFamily="34" charset="-122"/>
                <a:cs typeface="Calibri" pitchFamily="34" charset="-120"/>
              </a:rPr>
              <a:t>6</a:t>
            </a:r>
            <a:endParaRPr lang="en-US" sz="1000" dirty="0"/>
          </a:p>
        </p:txBody>
      </p:sp>
      <p:sp>
        <p:nvSpPr>
          <p:cNvPr id="5" name="Text 3"/>
          <p:cNvSpPr/>
          <p:nvPr/>
        </p:nvSpPr>
        <p:spPr>
          <a:xfrm>
            <a:off x="566928" y="1234440"/>
            <a:ext cx="7315200" cy="274320"/>
          </a:xfrm>
          <a:prstGeom prst="rect">
            <a:avLst/>
          </a:prstGeom>
          <a:noFill/>
          <a:ln/>
        </p:spPr>
        <p:txBody>
          <a:bodyPr wrap="square" lIns="0" tIns="0" rIns="0" bIns="0" rtlCol="0" anchor="ctr"/>
          <a:lstStyle/>
          <a:p>
            <a:pPr indent="0" marL="0">
              <a:buNone/>
            </a:pPr>
            <a:r>
              <a:rPr lang="en-US" sz="1250" b="1" spc="320" kern="0" dirty="0">
                <a:solidFill>
                  <a:srgbClr val="B08D3A"/>
                </a:solidFill>
                <a:latin typeface="Calibri" pitchFamily="34" charset="0"/>
                <a:ea typeface="Calibri" pitchFamily="34" charset="-122"/>
                <a:cs typeface="Calibri" pitchFamily="34" charset="-120"/>
              </a:rPr>
              <a:t>A 250-YEAR-OLD IDEA</a:t>
            </a:r>
            <a:endParaRPr lang="en-US" sz="1250" dirty="0"/>
          </a:p>
        </p:txBody>
      </p:sp>
      <p:sp>
        <p:nvSpPr>
          <p:cNvPr id="6" name="Text 4"/>
          <p:cNvSpPr/>
          <p:nvPr/>
        </p:nvSpPr>
        <p:spPr>
          <a:xfrm>
            <a:off x="566928" y="1591056"/>
            <a:ext cx="8229600" cy="822960"/>
          </a:xfrm>
          <a:prstGeom prst="rect">
            <a:avLst/>
          </a:prstGeom>
          <a:noFill/>
          <a:ln/>
        </p:spPr>
        <p:txBody>
          <a:bodyPr wrap="square" lIns="0" tIns="0" rIns="0" bIns="0" rtlCol="0" anchor="ctr"/>
          <a:lstStyle/>
          <a:p>
            <a:pPr indent="0" marL="0">
              <a:buNone/>
            </a:pPr>
            <a:r>
              <a:rPr lang="en-US" sz="4200" b="1" dirty="0">
                <a:solidFill>
                  <a:srgbClr val="1B2A4A"/>
                </a:solidFill>
                <a:latin typeface="Cambria" pitchFamily="34" charset="0"/>
                <a:ea typeface="Cambria" pitchFamily="34" charset="-122"/>
                <a:cs typeface="Cambria" pitchFamily="34" charset="-120"/>
              </a:rPr>
              <a:t>We have done this before.</a:t>
            </a:r>
            <a:endParaRPr lang="en-US" sz="4200" dirty="0"/>
          </a:p>
        </p:txBody>
      </p:sp>
      <p:sp>
        <p:nvSpPr>
          <p:cNvPr id="7" name="Text 5"/>
          <p:cNvSpPr/>
          <p:nvPr/>
        </p:nvSpPr>
        <p:spPr>
          <a:xfrm>
            <a:off x="566928" y="2468880"/>
            <a:ext cx="8229600" cy="365760"/>
          </a:xfrm>
          <a:prstGeom prst="rect">
            <a:avLst/>
          </a:prstGeom>
          <a:noFill/>
          <a:ln/>
        </p:spPr>
        <p:txBody>
          <a:bodyPr wrap="square" lIns="0" tIns="0" rIns="0" bIns="0" rtlCol="0" anchor="ctr"/>
          <a:lstStyle/>
          <a:p>
            <a:pPr indent="0" marL="0">
              <a:buNone/>
            </a:pPr>
            <a:r>
              <a:rPr lang="en-US" sz="1800" i="1" dirty="0">
                <a:solidFill>
                  <a:srgbClr val="B08D3A"/>
                </a:solidFill>
                <a:latin typeface="Cambria" pitchFamily="34" charset="0"/>
                <a:ea typeface="Cambria" pitchFamily="34" charset="-122"/>
                <a:cs typeface="Cambria" pitchFamily="34" charset="-120"/>
              </a:rPr>
              <a:t>Settled by reflection and choice, not by accident and force.</a:t>
            </a:r>
            <a:endParaRPr lang="en-US" sz="1800" dirty="0"/>
          </a:p>
        </p:txBody>
      </p:sp>
      <p:sp>
        <p:nvSpPr>
          <p:cNvPr id="8" name="Shape 6"/>
          <p:cNvSpPr/>
          <p:nvPr/>
        </p:nvSpPr>
        <p:spPr>
          <a:xfrm>
            <a:off x="704088" y="3703320"/>
            <a:ext cx="7772400" cy="0"/>
          </a:xfrm>
          <a:prstGeom prst="line">
            <a:avLst/>
          </a:prstGeom>
          <a:noFill/>
          <a:ln w="19050">
            <a:solidFill>
              <a:srgbClr val="B08D3A"/>
            </a:solidFill>
            <a:prstDash val="solid"/>
          </a:ln>
        </p:spPr>
      </p:sp>
      <p:sp>
        <p:nvSpPr>
          <p:cNvPr id="9" name="Shape 7"/>
          <p:cNvSpPr/>
          <p:nvPr/>
        </p:nvSpPr>
        <p:spPr>
          <a:xfrm>
            <a:off x="2029968" y="3611880"/>
            <a:ext cx="182880" cy="182880"/>
          </a:xfrm>
          <a:prstGeom prst="ellipse">
            <a:avLst/>
          </a:prstGeom>
          <a:solidFill>
            <a:srgbClr val="B08D3A"/>
          </a:solidFill>
          <a:ln/>
        </p:spPr>
      </p:sp>
      <p:sp>
        <p:nvSpPr>
          <p:cNvPr id="10" name="Text 8"/>
          <p:cNvSpPr/>
          <p:nvPr/>
        </p:nvSpPr>
        <p:spPr>
          <a:xfrm>
            <a:off x="932688" y="2953512"/>
            <a:ext cx="2377440" cy="457200"/>
          </a:xfrm>
          <a:prstGeom prst="rect">
            <a:avLst/>
          </a:prstGeom>
          <a:noFill/>
          <a:ln/>
        </p:spPr>
        <p:txBody>
          <a:bodyPr wrap="square" lIns="0" tIns="0" rIns="0" bIns="0" rtlCol="0" anchor="ctr"/>
          <a:lstStyle/>
          <a:p>
            <a:pPr algn="ctr" indent="0" marL="0">
              <a:buNone/>
            </a:pPr>
            <a:r>
              <a:rPr lang="en-US" sz="3000" b="1" dirty="0">
                <a:solidFill>
                  <a:srgbClr val="1B2A4A"/>
                </a:solidFill>
                <a:latin typeface="Cambria" pitchFamily="34" charset="0"/>
                <a:ea typeface="Cambria" pitchFamily="34" charset="-122"/>
                <a:cs typeface="Cambria" pitchFamily="34" charset="-120"/>
              </a:rPr>
              <a:t>1776</a:t>
            </a:r>
            <a:endParaRPr lang="en-US" sz="3000" dirty="0"/>
          </a:p>
        </p:txBody>
      </p:sp>
      <p:sp>
        <p:nvSpPr>
          <p:cNvPr id="11" name="Text 9"/>
          <p:cNvSpPr/>
          <p:nvPr/>
        </p:nvSpPr>
        <p:spPr>
          <a:xfrm>
            <a:off x="429768" y="3849624"/>
            <a:ext cx="3383280" cy="713232"/>
          </a:xfrm>
          <a:prstGeom prst="rect">
            <a:avLst/>
          </a:prstGeom>
          <a:noFill/>
          <a:ln/>
        </p:spPr>
        <p:txBody>
          <a:bodyPr wrap="square" lIns="0" tIns="0" rIns="0" bIns="0" rtlCol="0" anchor="ctr"/>
          <a:lstStyle/>
          <a:p>
            <a:pPr algn="ctr" indent="0" marL="0">
              <a:lnSpc>
                <a:spcPct val="108000"/>
              </a:lnSpc>
              <a:buNone/>
            </a:pPr>
            <a:r>
              <a:rPr lang="en-US" sz="1300" b="1" dirty="0">
                <a:solidFill>
                  <a:srgbClr val="1B2A4A"/>
                </a:solidFill>
                <a:latin typeface="Calibri" pitchFamily="34" charset="0"/>
                <a:ea typeface="Calibri" pitchFamily="34" charset="-122"/>
                <a:cs typeface="Calibri" pitchFamily="34" charset="-120"/>
              </a:rPr>
              <a:t>The physical world </a:t>
            </a:r>
            <a:pPr algn="ctr" indent="0" marL="0">
              <a:lnSpc>
                <a:spcPct val="108000"/>
              </a:lnSpc>
              <a:buNone/>
            </a:pPr>
            <a:r>
              <a:rPr lang="en-US" sz="1300" dirty="0">
                <a:solidFill>
                  <a:srgbClr val="3B4663"/>
                </a:solidFill>
                <a:latin typeface="Calibri" pitchFamily="34" charset="0"/>
                <a:ea typeface="Calibri" pitchFamily="34" charset="-122"/>
                <a:cs typeface="Calibri" pitchFamily="34" charset="-120"/>
              </a:rPr>
              <a:t>declared independence from a power that ruled it without its consent.</a:t>
            </a:r>
            <a:endParaRPr lang="en-US" sz="1300" dirty="0"/>
          </a:p>
        </p:txBody>
      </p:sp>
      <p:sp>
        <p:nvSpPr>
          <p:cNvPr id="12" name="Shape 10"/>
          <p:cNvSpPr/>
          <p:nvPr/>
        </p:nvSpPr>
        <p:spPr>
          <a:xfrm>
            <a:off x="6931152" y="3611880"/>
            <a:ext cx="182880" cy="182880"/>
          </a:xfrm>
          <a:prstGeom prst="ellipse">
            <a:avLst/>
          </a:prstGeom>
          <a:solidFill>
            <a:srgbClr val="B08D3A"/>
          </a:solidFill>
          <a:ln/>
        </p:spPr>
      </p:sp>
      <p:sp>
        <p:nvSpPr>
          <p:cNvPr id="13" name="Text 11"/>
          <p:cNvSpPr/>
          <p:nvPr/>
        </p:nvSpPr>
        <p:spPr>
          <a:xfrm>
            <a:off x="5833872" y="2953512"/>
            <a:ext cx="2377440" cy="457200"/>
          </a:xfrm>
          <a:prstGeom prst="rect">
            <a:avLst/>
          </a:prstGeom>
          <a:noFill/>
          <a:ln/>
        </p:spPr>
        <p:txBody>
          <a:bodyPr wrap="square" lIns="0" tIns="0" rIns="0" bIns="0" rtlCol="0" anchor="ctr"/>
          <a:lstStyle/>
          <a:p>
            <a:pPr algn="ctr" indent="0" marL="0">
              <a:buNone/>
            </a:pPr>
            <a:r>
              <a:rPr lang="en-US" sz="3000" b="1" dirty="0">
                <a:solidFill>
                  <a:srgbClr val="1B2A4A"/>
                </a:solidFill>
                <a:latin typeface="Cambria" pitchFamily="34" charset="0"/>
                <a:ea typeface="Cambria" pitchFamily="34" charset="-122"/>
                <a:cs typeface="Cambria" pitchFamily="34" charset="-120"/>
              </a:rPr>
              <a:t>2026</a:t>
            </a:r>
            <a:endParaRPr lang="en-US" sz="3000" dirty="0"/>
          </a:p>
        </p:txBody>
      </p:sp>
      <p:sp>
        <p:nvSpPr>
          <p:cNvPr id="14" name="Text 12"/>
          <p:cNvSpPr/>
          <p:nvPr/>
        </p:nvSpPr>
        <p:spPr>
          <a:xfrm>
            <a:off x="5330952" y="3849624"/>
            <a:ext cx="3383280" cy="713232"/>
          </a:xfrm>
          <a:prstGeom prst="rect">
            <a:avLst/>
          </a:prstGeom>
          <a:noFill/>
          <a:ln/>
        </p:spPr>
        <p:txBody>
          <a:bodyPr wrap="square" lIns="0" tIns="0" rIns="0" bIns="0" rtlCol="0" anchor="ctr"/>
          <a:lstStyle/>
          <a:p>
            <a:pPr algn="ctr" indent="0" marL="0">
              <a:lnSpc>
                <a:spcPct val="108000"/>
              </a:lnSpc>
              <a:buNone/>
            </a:pPr>
            <a:r>
              <a:rPr lang="en-US" sz="1300" b="1" dirty="0">
                <a:solidFill>
                  <a:srgbClr val="1B2A4A"/>
                </a:solidFill>
                <a:latin typeface="Calibri" pitchFamily="34" charset="0"/>
                <a:ea typeface="Calibri" pitchFamily="34" charset="-122"/>
                <a:cs typeface="Calibri" pitchFamily="34" charset="-120"/>
              </a:rPr>
              <a:t>The digital world </a:t>
            </a:r>
            <a:pPr algn="ctr" indent="0" marL="0">
              <a:lnSpc>
                <a:spcPct val="108000"/>
              </a:lnSpc>
              <a:buNone/>
            </a:pPr>
            <a:r>
              <a:rPr lang="en-US" sz="1300" dirty="0">
                <a:solidFill>
                  <a:srgbClr val="3B4663"/>
                </a:solidFill>
                <a:latin typeface="Calibri" pitchFamily="34" charset="0"/>
                <a:ea typeface="Calibri" pitchFamily="34" charset="-122"/>
                <a:cs typeface="Calibri" pitchFamily="34" charset="-120"/>
              </a:rPr>
              <a:t>declares its own, exactly 250 years 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A4A"/>
        </a:solidFill>
      </p:bgPr>
    </p:bg>
    <p:spTree>
      <p:nvGrpSpPr>
        <p:cNvPr id="1" name=""/>
        <p:cNvGrpSpPr/>
        <p:nvPr/>
      </p:nvGrpSpPr>
      <p:grpSpPr>
        <a:xfrm>
          <a:off x="0" y="0"/>
          <a:ext cx="0" cy="0"/>
          <a:chOff x="0" y="0"/>
          <a:chExt cx="0" cy="0"/>
        </a:xfrm>
      </p:grpSpPr>
      <p:sp>
        <p:nvSpPr>
          <p:cNvPr id="2" name="Shape 0"/>
          <p:cNvSpPr/>
          <p:nvPr/>
        </p:nvSpPr>
        <p:spPr>
          <a:xfrm rot="2700000">
            <a:off x="566928" y="365760"/>
            <a:ext cx="109728" cy="109728"/>
          </a:xfrm>
          <a:prstGeom prst="rect">
            <a:avLst/>
          </a:prstGeom>
          <a:solidFill>
            <a:srgbClr val="B08D3A"/>
          </a:solidFill>
          <a:ln/>
        </p:spPr>
      </p:sp>
      <p:sp>
        <p:nvSpPr>
          <p:cNvPr id="3" name="Text 1"/>
          <p:cNvSpPr/>
          <p:nvPr/>
        </p:nvSpPr>
        <p:spPr>
          <a:xfrm>
            <a:off x="786384" y="274320"/>
            <a:ext cx="3657600" cy="292608"/>
          </a:xfrm>
          <a:prstGeom prst="rect">
            <a:avLst/>
          </a:prstGeom>
          <a:noFill/>
          <a:ln/>
        </p:spPr>
        <p:txBody>
          <a:bodyPr wrap="square" lIns="0" tIns="0" rIns="0" bIns="0" rtlCol="0" anchor="ctr"/>
          <a:lstStyle/>
          <a:p>
            <a:pPr indent="0" marL="0">
              <a:buNone/>
            </a:pPr>
            <a:r>
              <a:rPr lang="en-US" sz="1150" b="1" spc="300" kern="0" dirty="0">
                <a:solidFill>
                  <a:srgbClr val="F1ECDD"/>
                </a:solidFill>
                <a:latin typeface="Calibri" pitchFamily="34" charset="0"/>
                <a:ea typeface="Calibri" pitchFamily="34" charset="-122"/>
                <a:cs typeface="Calibri" pitchFamily="34" charset="-120"/>
              </a:rPr>
              <a:t>WE THE USERS</a:t>
            </a:r>
            <a:endParaRPr lang="en-US" sz="1150" dirty="0"/>
          </a:p>
        </p:txBody>
      </p:sp>
      <p:sp>
        <p:nvSpPr>
          <p:cNvPr id="4" name="Text 2"/>
          <p:cNvSpPr/>
          <p:nvPr/>
        </p:nvSpPr>
        <p:spPr>
          <a:xfrm>
            <a:off x="8138160" y="4668012"/>
            <a:ext cx="457200" cy="274320"/>
          </a:xfrm>
          <a:prstGeom prst="rect">
            <a:avLst/>
          </a:prstGeom>
          <a:noFill/>
          <a:ln/>
        </p:spPr>
        <p:txBody>
          <a:bodyPr wrap="square" lIns="0" tIns="0" rIns="0" bIns="0" rtlCol="0" anchor="ctr"/>
          <a:lstStyle/>
          <a:p>
            <a:pPr algn="r" indent="0" marL="0">
              <a:buNone/>
            </a:pPr>
            <a:r>
              <a:rPr lang="en-US" sz="1000" dirty="0">
                <a:solidFill>
                  <a:srgbClr val="9AA6BC"/>
                </a:solidFill>
                <a:latin typeface="Calibri" pitchFamily="34" charset="0"/>
                <a:ea typeface="Calibri" pitchFamily="34" charset="-122"/>
                <a:cs typeface="Calibri" pitchFamily="34" charset="-120"/>
              </a:rPr>
              <a:t>7</a:t>
            </a:r>
            <a:endParaRPr lang="en-US" sz="1000" dirty="0"/>
          </a:p>
        </p:txBody>
      </p:sp>
      <p:sp>
        <p:nvSpPr>
          <p:cNvPr id="5" name="Text 3"/>
          <p:cNvSpPr/>
          <p:nvPr/>
        </p:nvSpPr>
        <p:spPr>
          <a:xfrm>
            <a:off x="566928" y="1170432"/>
            <a:ext cx="7315200" cy="274320"/>
          </a:xfrm>
          <a:prstGeom prst="rect">
            <a:avLst/>
          </a:prstGeom>
          <a:noFill/>
          <a:ln/>
        </p:spPr>
        <p:txBody>
          <a:bodyPr wrap="square" lIns="0" tIns="0" rIns="0" bIns="0" rtlCol="0" anchor="ctr"/>
          <a:lstStyle/>
          <a:p>
            <a:pPr indent="0" marL="0">
              <a:buNone/>
            </a:pPr>
            <a:r>
              <a:rPr lang="en-US" sz="1250" b="1" spc="320" kern="0" dirty="0">
                <a:solidFill>
                  <a:srgbClr val="C9A24B"/>
                </a:solidFill>
                <a:latin typeface="Calibri" pitchFamily="34" charset="0"/>
                <a:ea typeface="Calibri" pitchFamily="34" charset="-122"/>
                <a:cs typeface="Calibri" pitchFamily="34" charset="-120"/>
              </a:rPr>
              <a:t>THE VISION</a:t>
            </a:r>
            <a:endParaRPr lang="en-US" sz="1250" dirty="0"/>
          </a:p>
        </p:txBody>
      </p:sp>
      <p:sp>
        <p:nvSpPr>
          <p:cNvPr id="6" name="Text 4"/>
          <p:cNvSpPr/>
          <p:nvPr/>
        </p:nvSpPr>
        <p:spPr>
          <a:xfrm>
            <a:off x="566928" y="1517904"/>
            <a:ext cx="8138160" cy="868680"/>
          </a:xfrm>
          <a:prstGeom prst="rect">
            <a:avLst/>
          </a:prstGeom>
          <a:noFill/>
          <a:ln/>
          <a:effectLst>
            <a:outerShdw sx="100000" sy="100000" kx="0" ky="0" algn="bl" rotWithShape="0" blurRad="114300" dist="50800" dir="5400000">
              <a:srgbClr val="000000">
                <a:alpha val="26000"/>
              </a:srgbClr>
            </a:outerShdw>
          </a:effectLst>
        </p:spPr>
        <p:txBody>
          <a:bodyPr wrap="square" lIns="0" tIns="0" rIns="0" bIns="0" rtlCol="0" anchor="ctr"/>
          <a:lstStyle/>
          <a:p>
            <a:pPr indent="0" marL="0">
              <a:lnSpc>
                <a:spcPct val="98000"/>
              </a:lnSpc>
              <a:buNone/>
            </a:pPr>
            <a:r>
              <a:rPr lang="en-US" sz="3300" b="1" dirty="0">
                <a:solidFill>
                  <a:srgbClr val="F1ECDD"/>
                </a:solidFill>
                <a:latin typeface="Cambria" pitchFamily="34" charset="0"/>
                <a:ea typeface="Cambria" pitchFamily="34" charset="-122"/>
                <a:cs typeface="Cambria" pitchFamily="34" charset="-120"/>
              </a:rPr>
              <a:t>An internet owned by the people who use it.</a:t>
            </a:r>
            <a:endParaRPr lang="en-US" sz="3300" dirty="0"/>
          </a:p>
        </p:txBody>
      </p:sp>
      <p:sp>
        <p:nvSpPr>
          <p:cNvPr id="7" name="Shape 5"/>
          <p:cNvSpPr/>
          <p:nvPr/>
        </p:nvSpPr>
        <p:spPr>
          <a:xfrm>
            <a:off x="566928" y="2697480"/>
            <a:ext cx="2505456" cy="1874520"/>
          </a:xfrm>
          <a:prstGeom prst="roundRect">
            <a:avLst>
              <a:gd name="adj" fmla="val 3902"/>
            </a:avLst>
          </a:prstGeom>
          <a:solidFill>
            <a:srgbClr val="243457"/>
          </a:solidFill>
          <a:ln/>
          <a:effectLst>
            <a:outerShdw sx="100000" sy="100000" kx="0" ky="0" algn="bl" rotWithShape="0" blurRad="101600" dist="38100" dir="5400000">
              <a:srgbClr val="000000">
                <a:alpha val="34000"/>
              </a:srgbClr>
            </a:outerShdw>
          </a:effectLst>
        </p:spPr>
      </p:sp>
      <p:pic>
        <p:nvPicPr>
          <p:cNvPr id="8" name="Image 0" descr="preencoded.png">    </p:cNvPr>
          <p:cNvPicPr>
            <a:picLocks noChangeAspect="1"/>
          </p:cNvPicPr>
          <p:nvPr/>
        </p:nvPicPr>
        <p:blipFill>
          <a:blip r:embed="rId1"/>
          <a:stretch>
            <a:fillRect/>
          </a:stretch>
        </p:blipFill>
        <p:spPr>
          <a:xfrm>
            <a:off x="804672" y="2889504"/>
            <a:ext cx="475488" cy="475488"/>
          </a:xfrm>
          <a:prstGeom prst="rect">
            <a:avLst/>
          </a:prstGeom>
        </p:spPr>
      </p:pic>
      <p:sp>
        <p:nvSpPr>
          <p:cNvPr id="9" name="Text 6"/>
          <p:cNvSpPr/>
          <p:nvPr/>
        </p:nvSpPr>
        <p:spPr>
          <a:xfrm>
            <a:off x="804672" y="3456432"/>
            <a:ext cx="2084832" cy="493776"/>
          </a:xfrm>
          <a:prstGeom prst="rect">
            <a:avLst/>
          </a:prstGeom>
          <a:noFill/>
          <a:ln/>
        </p:spPr>
        <p:txBody>
          <a:bodyPr wrap="square" lIns="0" tIns="0" rIns="0" bIns="0" rtlCol="0" anchor="t"/>
          <a:lstStyle/>
          <a:p>
            <a:pPr indent="0" marL="0">
              <a:lnSpc>
                <a:spcPct val="95000"/>
              </a:lnSpc>
              <a:buNone/>
            </a:pPr>
            <a:r>
              <a:rPr lang="en-US" sz="1600" b="1" dirty="0">
                <a:solidFill>
                  <a:srgbClr val="C9A24B"/>
                </a:solidFill>
                <a:latin typeface="Cambria" pitchFamily="34" charset="0"/>
                <a:ea typeface="Cambria" pitchFamily="34" charset="-122"/>
                <a:cs typeface="Cambria" pitchFamily="34" charset="-120"/>
              </a:rPr>
              <a:t>Your data is yours</a:t>
            </a:r>
            <a:endParaRPr lang="en-US" sz="1600" dirty="0"/>
          </a:p>
        </p:txBody>
      </p:sp>
      <p:sp>
        <p:nvSpPr>
          <p:cNvPr id="10" name="Text 7"/>
          <p:cNvSpPr/>
          <p:nvPr/>
        </p:nvSpPr>
        <p:spPr>
          <a:xfrm>
            <a:off x="804672" y="3986784"/>
            <a:ext cx="2084832" cy="548640"/>
          </a:xfrm>
          <a:prstGeom prst="rect">
            <a:avLst/>
          </a:prstGeom>
          <a:noFill/>
          <a:ln/>
        </p:spPr>
        <p:txBody>
          <a:bodyPr wrap="square" lIns="0" tIns="0" rIns="0" bIns="0" rtlCol="0" anchor="ctr"/>
          <a:lstStyle/>
          <a:p>
            <a:pPr indent="0" marL="0">
              <a:lnSpc>
                <a:spcPct val="105000"/>
              </a:lnSpc>
              <a:buNone/>
            </a:pPr>
            <a:r>
              <a:rPr lang="en-US" sz="1200" dirty="0">
                <a:solidFill>
                  <a:srgbClr val="CFD5E0"/>
                </a:solidFill>
                <a:latin typeface="Calibri" pitchFamily="34" charset="0"/>
                <a:ea typeface="Calibri" pitchFamily="34" charset="-122"/>
                <a:cs typeface="Calibri" pitchFamily="34" charset="-120"/>
              </a:rPr>
              <a:t>Held by you, shared on your terms, and yours to carry away.</a:t>
            </a:r>
            <a:endParaRPr lang="en-US" sz="1200" dirty="0"/>
          </a:p>
        </p:txBody>
      </p:sp>
      <p:sp>
        <p:nvSpPr>
          <p:cNvPr id="11" name="Shape 8"/>
          <p:cNvSpPr/>
          <p:nvPr/>
        </p:nvSpPr>
        <p:spPr>
          <a:xfrm>
            <a:off x="3236976" y="2697480"/>
            <a:ext cx="2505456" cy="1874520"/>
          </a:xfrm>
          <a:prstGeom prst="roundRect">
            <a:avLst>
              <a:gd name="adj" fmla="val 3902"/>
            </a:avLst>
          </a:prstGeom>
          <a:solidFill>
            <a:srgbClr val="243457"/>
          </a:solidFill>
          <a:ln/>
          <a:effectLst>
            <a:outerShdw sx="100000" sy="100000" kx="0" ky="0" algn="bl" rotWithShape="0" blurRad="101600" dist="38100" dir="5400000">
              <a:srgbClr val="000000">
                <a:alpha val="34000"/>
              </a:srgbClr>
            </a:outerShdw>
          </a:effectLst>
        </p:spPr>
      </p:sp>
      <p:pic>
        <p:nvPicPr>
          <p:cNvPr id="12" name="Image 1" descr="preencoded.png">    </p:cNvPr>
          <p:cNvPicPr>
            <a:picLocks noChangeAspect="1"/>
          </p:cNvPicPr>
          <p:nvPr/>
        </p:nvPicPr>
        <p:blipFill>
          <a:blip r:embed="rId2"/>
          <a:stretch>
            <a:fillRect/>
          </a:stretch>
        </p:blipFill>
        <p:spPr>
          <a:xfrm>
            <a:off x="3474720" y="2889504"/>
            <a:ext cx="475488" cy="475488"/>
          </a:xfrm>
          <a:prstGeom prst="rect">
            <a:avLst/>
          </a:prstGeom>
        </p:spPr>
      </p:pic>
      <p:sp>
        <p:nvSpPr>
          <p:cNvPr id="13" name="Text 9"/>
          <p:cNvSpPr/>
          <p:nvPr/>
        </p:nvSpPr>
        <p:spPr>
          <a:xfrm>
            <a:off x="3474720" y="3456432"/>
            <a:ext cx="2084832" cy="493776"/>
          </a:xfrm>
          <a:prstGeom prst="rect">
            <a:avLst/>
          </a:prstGeom>
          <a:noFill/>
          <a:ln/>
        </p:spPr>
        <p:txBody>
          <a:bodyPr wrap="square" lIns="0" tIns="0" rIns="0" bIns="0" rtlCol="0" anchor="t"/>
          <a:lstStyle/>
          <a:p>
            <a:pPr indent="0" marL="0">
              <a:lnSpc>
                <a:spcPct val="95000"/>
              </a:lnSpc>
              <a:buNone/>
            </a:pPr>
            <a:r>
              <a:rPr lang="en-US" sz="1600" b="1" dirty="0">
                <a:solidFill>
                  <a:srgbClr val="C9A24B"/>
                </a:solidFill>
                <a:latin typeface="Cambria" pitchFamily="34" charset="0"/>
                <a:ea typeface="Cambria" pitchFamily="34" charset="-122"/>
                <a:cs typeface="Cambria" pitchFamily="34" charset="-120"/>
              </a:rPr>
              <a:t>Rewards flow back</a:t>
            </a:r>
            <a:endParaRPr lang="en-US" sz="1600" dirty="0"/>
          </a:p>
        </p:txBody>
      </p:sp>
      <p:sp>
        <p:nvSpPr>
          <p:cNvPr id="14" name="Text 10"/>
          <p:cNvSpPr/>
          <p:nvPr/>
        </p:nvSpPr>
        <p:spPr>
          <a:xfrm>
            <a:off x="3474720" y="3986784"/>
            <a:ext cx="2084832" cy="548640"/>
          </a:xfrm>
          <a:prstGeom prst="rect">
            <a:avLst/>
          </a:prstGeom>
          <a:noFill/>
          <a:ln/>
        </p:spPr>
        <p:txBody>
          <a:bodyPr wrap="square" lIns="0" tIns="0" rIns="0" bIns="0" rtlCol="0" anchor="ctr"/>
          <a:lstStyle/>
          <a:p>
            <a:pPr indent="0" marL="0">
              <a:lnSpc>
                <a:spcPct val="105000"/>
              </a:lnSpc>
              <a:buNone/>
            </a:pPr>
            <a:r>
              <a:rPr lang="en-US" sz="1200" dirty="0">
                <a:solidFill>
                  <a:srgbClr val="CFD5E0"/>
                </a:solidFill>
                <a:latin typeface="Calibri" pitchFamily="34" charset="0"/>
                <a:ea typeface="Calibri" pitchFamily="34" charset="-122"/>
                <a:cs typeface="Calibri" pitchFamily="34" charset="-120"/>
              </a:rPr>
              <a:t>The value the network creates returns to the people who make it.</a:t>
            </a:r>
            <a:endParaRPr lang="en-US" sz="1200" dirty="0"/>
          </a:p>
        </p:txBody>
      </p:sp>
      <p:sp>
        <p:nvSpPr>
          <p:cNvPr id="15" name="Shape 11"/>
          <p:cNvSpPr/>
          <p:nvPr/>
        </p:nvSpPr>
        <p:spPr>
          <a:xfrm>
            <a:off x="5907024" y="2697480"/>
            <a:ext cx="2505456" cy="1874520"/>
          </a:xfrm>
          <a:prstGeom prst="roundRect">
            <a:avLst>
              <a:gd name="adj" fmla="val 3902"/>
            </a:avLst>
          </a:prstGeom>
          <a:solidFill>
            <a:srgbClr val="243457"/>
          </a:solidFill>
          <a:ln/>
          <a:effectLst>
            <a:outerShdw sx="100000" sy="100000" kx="0" ky="0" algn="bl" rotWithShape="0" blurRad="101600" dist="38100" dir="5400000">
              <a:srgbClr val="000000">
                <a:alpha val="34000"/>
              </a:srgbClr>
            </a:outerShdw>
          </a:effectLst>
        </p:spPr>
      </p:sp>
      <p:pic>
        <p:nvPicPr>
          <p:cNvPr id="16" name="Image 2" descr="preencoded.png">    </p:cNvPr>
          <p:cNvPicPr>
            <a:picLocks noChangeAspect="1"/>
          </p:cNvPicPr>
          <p:nvPr/>
        </p:nvPicPr>
        <p:blipFill>
          <a:blip r:embed="rId3"/>
          <a:stretch>
            <a:fillRect/>
          </a:stretch>
        </p:blipFill>
        <p:spPr>
          <a:xfrm>
            <a:off x="6144768" y="2889504"/>
            <a:ext cx="475488" cy="475488"/>
          </a:xfrm>
          <a:prstGeom prst="rect">
            <a:avLst/>
          </a:prstGeom>
        </p:spPr>
      </p:pic>
      <p:sp>
        <p:nvSpPr>
          <p:cNvPr id="17" name="Text 12"/>
          <p:cNvSpPr/>
          <p:nvPr/>
        </p:nvSpPr>
        <p:spPr>
          <a:xfrm>
            <a:off x="6144768" y="3456432"/>
            <a:ext cx="2084832" cy="493776"/>
          </a:xfrm>
          <a:prstGeom prst="rect">
            <a:avLst/>
          </a:prstGeom>
          <a:noFill/>
          <a:ln/>
        </p:spPr>
        <p:txBody>
          <a:bodyPr wrap="square" lIns="0" tIns="0" rIns="0" bIns="0" rtlCol="0" anchor="t"/>
          <a:lstStyle/>
          <a:p>
            <a:pPr indent="0" marL="0">
              <a:lnSpc>
                <a:spcPct val="95000"/>
              </a:lnSpc>
              <a:buNone/>
            </a:pPr>
            <a:r>
              <a:rPr lang="en-US" sz="1600" b="1" dirty="0">
                <a:solidFill>
                  <a:srgbClr val="C9A24B"/>
                </a:solidFill>
                <a:latin typeface="Cambria" pitchFamily="34" charset="0"/>
                <a:ea typeface="Cambria" pitchFamily="34" charset="-122"/>
                <a:cs typeface="Cambria" pitchFamily="34" charset="-120"/>
              </a:rPr>
              <a:t>No one above the rest</a:t>
            </a:r>
            <a:endParaRPr lang="en-US" sz="1600" dirty="0"/>
          </a:p>
        </p:txBody>
      </p:sp>
      <p:sp>
        <p:nvSpPr>
          <p:cNvPr id="18" name="Text 13"/>
          <p:cNvSpPr/>
          <p:nvPr/>
        </p:nvSpPr>
        <p:spPr>
          <a:xfrm>
            <a:off x="6144768" y="3986784"/>
            <a:ext cx="2084832" cy="548640"/>
          </a:xfrm>
          <a:prstGeom prst="rect">
            <a:avLst/>
          </a:prstGeom>
          <a:noFill/>
          <a:ln/>
        </p:spPr>
        <p:txBody>
          <a:bodyPr wrap="square" lIns="0" tIns="0" rIns="0" bIns="0" rtlCol="0" anchor="ctr"/>
          <a:lstStyle/>
          <a:p>
            <a:pPr indent="0" marL="0">
              <a:lnSpc>
                <a:spcPct val="105000"/>
              </a:lnSpc>
              <a:buNone/>
            </a:pPr>
            <a:r>
              <a:rPr lang="en-US" sz="1200" dirty="0">
                <a:solidFill>
                  <a:srgbClr val="CFD5E0"/>
                </a:solidFill>
                <a:latin typeface="Calibri" pitchFamily="34" charset="0"/>
                <a:ea typeface="Calibri" pitchFamily="34" charset="-122"/>
                <a:cs typeface="Calibri" pitchFamily="34" charset="-120"/>
              </a:rPr>
              <a:t>Returns are capped. No founder, engineer, or investor reigns.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A4A"/>
        </a:solidFill>
      </p:bgPr>
    </p:bg>
    <p:spTree>
      <p:nvGrpSpPr>
        <p:cNvPr id="1" name=""/>
        <p:cNvGrpSpPr/>
        <p:nvPr/>
      </p:nvGrpSpPr>
      <p:grpSpPr>
        <a:xfrm>
          <a:off x="0" y="0"/>
          <a:ext cx="0" cy="0"/>
          <a:chOff x="0" y="0"/>
          <a:chExt cx="0" cy="0"/>
        </a:xfrm>
      </p:grpSpPr>
      <p:sp>
        <p:nvSpPr>
          <p:cNvPr id="2" name="Shape 0"/>
          <p:cNvSpPr/>
          <p:nvPr/>
        </p:nvSpPr>
        <p:spPr>
          <a:xfrm rot="2700000">
            <a:off x="566928" y="365760"/>
            <a:ext cx="109728" cy="109728"/>
          </a:xfrm>
          <a:prstGeom prst="rect">
            <a:avLst/>
          </a:prstGeom>
          <a:solidFill>
            <a:srgbClr val="B08D3A"/>
          </a:solidFill>
          <a:ln/>
        </p:spPr>
      </p:sp>
      <p:sp>
        <p:nvSpPr>
          <p:cNvPr id="3" name="Text 1"/>
          <p:cNvSpPr/>
          <p:nvPr/>
        </p:nvSpPr>
        <p:spPr>
          <a:xfrm>
            <a:off x="786384" y="274320"/>
            <a:ext cx="3657600" cy="292608"/>
          </a:xfrm>
          <a:prstGeom prst="rect">
            <a:avLst/>
          </a:prstGeom>
          <a:noFill/>
          <a:ln/>
        </p:spPr>
        <p:txBody>
          <a:bodyPr wrap="square" lIns="0" tIns="0" rIns="0" bIns="0" rtlCol="0" anchor="ctr"/>
          <a:lstStyle/>
          <a:p>
            <a:pPr indent="0" marL="0">
              <a:buNone/>
            </a:pPr>
            <a:r>
              <a:rPr lang="en-US" sz="1150" b="1" spc="300" kern="0" dirty="0">
                <a:solidFill>
                  <a:srgbClr val="F1ECDD"/>
                </a:solidFill>
                <a:latin typeface="Calibri" pitchFamily="34" charset="0"/>
                <a:ea typeface="Calibri" pitchFamily="34" charset="-122"/>
                <a:cs typeface="Calibri" pitchFamily="34" charset="-120"/>
              </a:rPr>
              <a:t>WE THE USERS</a:t>
            </a:r>
            <a:endParaRPr lang="en-US" sz="1150" dirty="0"/>
          </a:p>
        </p:txBody>
      </p:sp>
      <p:sp>
        <p:nvSpPr>
          <p:cNvPr id="4" name="Text 2"/>
          <p:cNvSpPr/>
          <p:nvPr/>
        </p:nvSpPr>
        <p:spPr>
          <a:xfrm>
            <a:off x="8138160" y="4668012"/>
            <a:ext cx="457200" cy="274320"/>
          </a:xfrm>
          <a:prstGeom prst="rect">
            <a:avLst/>
          </a:prstGeom>
          <a:noFill/>
          <a:ln/>
        </p:spPr>
        <p:txBody>
          <a:bodyPr wrap="square" lIns="0" tIns="0" rIns="0" bIns="0" rtlCol="0" anchor="ctr"/>
          <a:lstStyle/>
          <a:p>
            <a:pPr algn="r" indent="0" marL="0">
              <a:buNone/>
            </a:pPr>
            <a:r>
              <a:rPr lang="en-US" sz="1000" dirty="0">
                <a:solidFill>
                  <a:srgbClr val="9AA6BC"/>
                </a:solidFill>
                <a:latin typeface="Calibri" pitchFamily="34" charset="0"/>
                <a:ea typeface="Calibri" pitchFamily="34" charset="-122"/>
                <a:cs typeface="Calibri" pitchFamily="34" charset="-120"/>
              </a:rPr>
              <a:t>8</a:t>
            </a:r>
            <a:endParaRPr lang="en-US" sz="1000" dirty="0"/>
          </a:p>
        </p:txBody>
      </p:sp>
      <p:sp>
        <p:nvSpPr>
          <p:cNvPr id="5" name="Text 3"/>
          <p:cNvSpPr/>
          <p:nvPr/>
        </p:nvSpPr>
        <p:spPr>
          <a:xfrm>
            <a:off x="566928" y="749808"/>
            <a:ext cx="7315200" cy="274320"/>
          </a:xfrm>
          <a:prstGeom prst="rect">
            <a:avLst/>
          </a:prstGeom>
          <a:noFill/>
          <a:ln/>
        </p:spPr>
        <p:txBody>
          <a:bodyPr wrap="square" lIns="0" tIns="0" rIns="0" bIns="0" rtlCol="0" anchor="ctr"/>
          <a:lstStyle/>
          <a:p>
            <a:pPr indent="0" marL="0">
              <a:buNone/>
            </a:pPr>
            <a:r>
              <a:rPr lang="en-US" sz="1250" b="1" spc="320" kern="0" dirty="0">
                <a:solidFill>
                  <a:srgbClr val="C9A24B"/>
                </a:solidFill>
                <a:latin typeface="Calibri" pitchFamily="34" charset="0"/>
                <a:ea typeface="Calibri" pitchFamily="34" charset="-122"/>
                <a:cs typeface="Calibri" pitchFamily="34" charset="-120"/>
              </a:rPr>
              <a:t>THE REMEDY</a:t>
            </a:r>
            <a:endParaRPr lang="en-US" sz="1250" dirty="0"/>
          </a:p>
        </p:txBody>
      </p:sp>
      <p:sp>
        <p:nvSpPr>
          <p:cNvPr id="6" name="Shape 4"/>
          <p:cNvSpPr/>
          <p:nvPr/>
        </p:nvSpPr>
        <p:spPr>
          <a:xfrm>
            <a:off x="2429858" y="1078992"/>
            <a:ext cx="4284284" cy="3730752"/>
          </a:xfrm>
          <a:prstGeom prst="rect">
            <a:avLst/>
          </a:prstGeom>
          <a:solidFill>
            <a:srgbClr val="F1ECDD"/>
          </a:solidFill>
          <a:ln/>
        </p:spPr>
      </p:sp>
      <p:pic>
        <p:nvPicPr>
          <p:cNvPr id="7" name="Image 0" descr="assets/cartoon-users.png">    </p:cNvPr>
          <p:cNvPicPr>
            <a:picLocks noChangeAspect="1"/>
          </p:cNvPicPr>
          <p:nvPr/>
        </p:nvPicPr>
        <p:blipFill>
          <a:blip r:embed="rId1"/>
          <a:stretch>
            <a:fillRect/>
          </a:stretch>
        </p:blipFill>
        <p:spPr>
          <a:xfrm>
            <a:off x="2484722" y="1133856"/>
            <a:ext cx="4174556" cy="3621024"/>
          </a:xfrm>
          <a:prstGeom prst="rect">
            <a:avLst/>
          </a:prstGeom>
          <a:effectLst>
            <a:outerShdw sx="100000" sy="100000" kx="0" ky="0" algn="bl" rotWithShape="0" blurRad="127000" dist="63500" dir="5400000">
              <a:srgbClr val="000000">
                <a:alpha val="42000"/>
              </a:srgbClr>
            </a:outerShdw>
          </a:effectLst>
        </p:spPr>
      </p:pic>
      <p:sp>
        <p:nvSpPr>
          <p:cNvPr id="8" name="Shape 5"/>
          <p:cNvSpPr/>
          <p:nvPr/>
        </p:nvSpPr>
        <p:spPr>
          <a:xfrm>
            <a:off x="2429858" y="1078992"/>
            <a:ext cx="4284284" cy="3730752"/>
          </a:xfrm>
          <a:prstGeom prst="rect">
            <a:avLst/>
          </a:prstGeom>
          <a:ln w="12700">
            <a:solidFill>
              <a:srgbClr val="B08D3A"/>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EA"/>
        </a:solidFill>
      </p:bgPr>
    </p:bg>
    <p:spTree>
      <p:nvGrpSpPr>
        <p:cNvPr id="1" name=""/>
        <p:cNvGrpSpPr/>
        <p:nvPr/>
      </p:nvGrpSpPr>
      <p:grpSpPr>
        <a:xfrm>
          <a:off x="0" y="0"/>
          <a:ext cx="0" cy="0"/>
          <a:chOff x="0" y="0"/>
          <a:chExt cx="0" cy="0"/>
        </a:xfrm>
      </p:grpSpPr>
      <p:sp>
        <p:nvSpPr>
          <p:cNvPr id="2" name="Shape 0"/>
          <p:cNvSpPr/>
          <p:nvPr/>
        </p:nvSpPr>
        <p:spPr>
          <a:xfrm rot="2700000">
            <a:off x="566928" y="365760"/>
            <a:ext cx="109728" cy="109728"/>
          </a:xfrm>
          <a:prstGeom prst="rect">
            <a:avLst/>
          </a:prstGeom>
          <a:solidFill>
            <a:srgbClr val="B08D3A"/>
          </a:solidFill>
          <a:ln/>
        </p:spPr>
      </p:sp>
      <p:sp>
        <p:nvSpPr>
          <p:cNvPr id="3" name="Text 1"/>
          <p:cNvSpPr/>
          <p:nvPr/>
        </p:nvSpPr>
        <p:spPr>
          <a:xfrm>
            <a:off x="786384" y="274320"/>
            <a:ext cx="3657600" cy="292608"/>
          </a:xfrm>
          <a:prstGeom prst="rect">
            <a:avLst/>
          </a:prstGeom>
          <a:noFill/>
          <a:ln/>
        </p:spPr>
        <p:txBody>
          <a:bodyPr wrap="square" lIns="0" tIns="0" rIns="0" bIns="0" rtlCol="0" anchor="ctr"/>
          <a:lstStyle/>
          <a:p>
            <a:pPr indent="0" marL="0">
              <a:buNone/>
            </a:pPr>
            <a:r>
              <a:rPr lang="en-US" sz="1150" b="1" spc="300" kern="0" dirty="0">
                <a:solidFill>
                  <a:srgbClr val="1B2A4A"/>
                </a:solidFill>
                <a:latin typeface="Calibri" pitchFamily="34" charset="0"/>
                <a:ea typeface="Calibri" pitchFamily="34" charset="-122"/>
                <a:cs typeface="Calibri" pitchFamily="34" charset="-120"/>
              </a:rPr>
              <a:t>WE THE USERS</a:t>
            </a:r>
            <a:endParaRPr lang="en-US" sz="1150" dirty="0"/>
          </a:p>
        </p:txBody>
      </p:sp>
      <p:sp>
        <p:nvSpPr>
          <p:cNvPr id="4" name="Text 2"/>
          <p:cNvSpPr/>
          <p:nvPr/>
        </p:nvSpPr>
        <p:spPr>
          <a:xfrm>
            <a:off x="8138160" y="4668012"/>
            <a:ext cx="457200" cy="274320"/>
          </a:xfrm>
          <a:prstGeom prst="rect">
            <a:avLst/>
          </a:prstGeom>
          <a:noFill/>
          <a:ln/>
        </p:spPr>
        <p:txBody>
          <a:bodyPr wrap="square" lIns="0" tIns="0" rIns="0" bIns="0" rtlCol="0" anchor="ctr"/>
          <a:lstStyle/>
          <a:p>
            <a:pPr algn="r" indent="0" marL="0">
              <a:buNone/>
            </a:pPr>
            <a:r>
              <a:rPr lang="en-US" sz="1000" dirty="0">
                <a:solidFill>
                  <a:srgbClr val="76716A"/>
                </a:solidFill>
                <a:latin typeface="Calibri" pitchFamily="34" charset="0"/>
                <a:ea typeface="Calibri" pitchFamily="34" charset="-122"/>
                <a:cs typeface="Calibri" pitchFamily="34" charset="-120"/>
              </a:rPr>
              <a:t>9</a:t>
            </a:r>
            <a:endParaRPr lang="en-US" sz="1000" dirty="0"/>
          </a:p>
        </p:txBody>
      </p:sp>
      <p:sp>
        <p:nvSpPr>
          <p:cNvPr id="5" name="Text 3"/>
          <p:cNvSpPr/>
          <p:nvPr/>
        </p:nvSpPr>
        <p:spPr>
          <a:xfrm>
            <a:off x="566928" y="1170432"/>
            <a:ext cx="7315200" cy="274320"/>
          </a:xfrm>
          <a:prstGeom prst="rect">
            <a:avLst/>
          </a:prstGeom>
          <a:noFill/>
          <a:ln/>
        </p:spPr>
        <p:txBody>
          <a:bodyPr wrap="square" lIns="0" tIns="0" rIns="0" bIns="0" rtlCol="0" anchor="ctr"/>
          <a:lstStyle/>
          <a:p>
            <a:pPr indent="0" marL="0">
              <a:buNone/>
            </a:pPr>
            <a:r>
              <a:rPr lang="en-US" sz="1250" b="1" spc="320" kern="0" dirty="0">
                <a:solidFill>
                  <a:srgbClr val="B08D3A"/>
                </a:solidFill>
                <a:latin typeface="Calibri" pitchFamily="34" charset="0"/>
                <a:ea typeface="Calibri" pitchFamily="34" charset="-122"/>
                <a:cs typeface="Calibri" pitchFamily="34" charset="-120"/>
              </a:rPr>
              <a:t>HOW IT IS BUILT</a:t>
            </a:r>
            <a:endParaRPr lang="en-US" sz="1250" dirty="0"/>
          </a:p>
        </p:txBody>
      </p:sp>
      <p:sp>
        <p:nvSpPr>
          <p:cNvPr id="6" name="Text 4"/>
          <p:cNvSpPr/>
          <p:nvPr/>
        </p:nvSpPr>
        <p:spPr>
          <a:xfrm>
            <a:off x="566928" y="1481328"/>
            <a:ext cx="8229600" cy="777240"/>
          </a:xfrm>
          <a:prstGeom prst="rect">
            <a:avLst/>
          </a:prstGeom>
          <a:noFill/>
          <a:ln/>
        </p:spPr>
        <p:txBody>
          <a:bodyPr wrap="square" lIns="0" tIns="0" rIns="0" bIns="0" rtlCol="0" anchor="ctr"/>
          <a:lstStyle/>
          <a:p>
            <a:pPr indent="0" marL="0">
              <a:buNone/>
            </a:pPr>
            <a:r>
              <a:rPr lang="en-US" sz="3600" b="1" dirty="0">
                <a:solidFill>
                  <a:srgbClr val="1B2A4A"/>
                </a:solidFill>
                <a:latin typeface="Cambria" pitchFamily="34" charset="0"/>
                <a:ea typeface="Cambria" pitchFamily="34" charset="-122"/>
                <a:cs typeface="Cambria" pitchFamily="34" charset="-120"/>
              </a:rPr>
              <a:t>Power, divided three ways.</a:t>
            </a:r>
            <a:endParaRPr lang="en-US" sz="3600" dirty="0"/>
          </a:p>
        </p:txBody>
      </p:sp>
      <p:sp>
        <p:nvSpPr>
          <p:cNvPr id="7" name="Text 5"/>
          <p:cNvSpPr/>
          <p:nvPr/>
        </p:nvSpPr>
        <p:spPr>
          <a:xfrm>
            <a:off x="566928" y="2194560"/>
            <a:ext cx="8229600" cy="310896"/>
          </a:xfrm>
          <a:prstGeom prst="rect">
            <a:avLst/>
          </a:prstGeom>
          <a:noFill/>
          <a:ln/>
        </p:spPr>
        <p:txBody>
          <a:bodyPr wrap="square" lIns="0" tIns="0" rIns="0" bIns="0" rtlCol="0" anchor="ctr"/>
          <a:lstStyle/>
          <a:p>
            <a:pPr indent="0" marL="0">
              <a:buNone/>
            </a:pPr>
            <a:r>
              <a:rPr lang="en-US" sz="1600" i="1" dirty="0">
                <a:solidFill>
                  <a:srgbClr val="B08D3A"/>
                </a:solidFill>
                <a:latin typeface="Cambria" pitchFamily="34" charset="0"/>
                <a:ea typeface="Cambria" pitchFamily="34" charset="-122"/>
                <a:cs typeface="Cambria" pitchFamily="34" charset="-120"/>
              </a:rPr>
              <a:t>Federalism, so that no part can rule the rest.</a:t>
            </a:r>
            <a:endParaRPr lang="en-US" sz="1600" dirty="0"/>
          </a:p>
        </p:txBody>
      </p:sp>
      <p:sp>
        <p:nvSpPr>
          <p:cNvPr id="8" name="Shape 6"/>
          <p:cNvSpPr/>
          <p:nvPr/>
        </p:nvSpPr>
        <p:spPr>
          <a:xfrm>
            <a:off x="566928" y="2487168"/>
            <a:ext cx="7498080" cy="786384"/>
          </a:xfrm>
          <a:prstGeom prst="roundRect">
            <a:avLst>
              <a:gd name="adj" fmla="val 8140"/>
            </a:avLst>
          </a:prstGeom>
          <a:solidFill>
            <a:srgbClr val="FBF8F0"/>
          </a:solidFill>
          <a:ln/>
          <a:effectLst>
            <a:outerShdw sx="100000" sy="100000" kx="0" ky="0" algn="bl" rotWithShape="0" blurRad="76200" dist="25400" dir="5400000">
              <a:srgbClr val="9A927C">
                <a:alpha val="20000"/>
              </a:srgbClr>
            </a:outerShdw>
          </a:effectLst>
        </p:spPr>
      </p:sp>
      <p:pic>
        <p:nvPicPr>
          <p:cNvPr id="9" name="Image 0" descr="preencoded.png">    </p:cNvPr>
          <p:cNvPicPr>
            <a:picLocks noChangeAspect="1"/>
          </p:cNvPicPr>
          <p:nvPr/>
        </p:nvPicPr>
        <p:blipFill>
          <a:blip r:embed="rId1"/>
          <a:stretch>
            <a:fillRect/>
          </a:stretch>
        </p:blipFill>
        <p:spPr>
          <a:xfrm>
            <a:off x="822960" y="2679192"/>
            <a:ext cx="402336" cy="402336"/>
          </a:xfrm>
          <a:prstGeom prst="rect">
            <a:avLst/>
          </a:prstGeom>
        </p:spPr>
      </p:pic>
      <p:sp>
        <p:nvSpPr>
          <p:cNvPr id="10" name="Text 7"/>
          <p:cNvSpPr/>
          <p:nvPr/>
        </p:nvSpPr>
        <p:spPr>
          <a:xfrm>
            <a:off x="1435608" y="2487168"/>
            <a:ext cx="2743200" cy="786384"/>
          </a:xfrm>
          <a:prstGeom prst="rect">
            <a:avLst/>
          </a:prstGeom>
          <a:noFill/>
          <a:ln/>
        </p:spPr>
        <p:txBody>
          <a:bodyPr wrap="square" lIns="0" tIns="0" rIns="0" bIns="0" rtlCol="0" anchor="ctr"/>
          <a:lstStyle/>
          <a:p>
            <a:pPr indent="0" marL="0">
              <a:buNone/>
            </a:pPr>
            <a:r>
              <a:rPr lang="en-US" sz="1800" b="1" dirty="0">
                <a:solidFill>
                  <a:srgbClr val="1B2A4A"/>
                </a:solidFill>
                <a:latin typeface="Cambria" pitchFamily="34" charset="0"/>
                <a:ea typeface="Cambria" pitchFamily="34" charset="-122"/>
                <a:cs typeface="Cambria" pitchFamily="34" charset="-120"/>
              </a:rPr>
              <a:t>Individuals</a:t>
            </a:r>
            <a:endParaRPr lang="en-US" sz="1800" dirty="0"/>
          </a:p>
        </p:txBody>
      </p:sp>
      <p:sp>
        <p:nvSpPr>
          <p:cNvPr id="11" name="Text 8"/>
          <p:cNvSpPr/>
          <p:nvPr/>
        </p:nvSpPr>
        <p:spPr>
          <a:xfrm>
            <a:off x="4315968" y="2487168"/>
            <a:ext cx="3611880" cy="786384"/>
          </a:xfrm>
          <a:prstGeom prst="rect">
            <a:avLst/>
          </a:prstGeom>
          <a:noFill/>
          <a:ln/>
        </p:spPr>
        <p:txBody>
          <a:bodyPr wrap="square" lIns="0" tIns="0" rIns="0" bIns="0" rtlCol="0" anchor="ctr"/>
          <a:lstStyle/>
          <a:p>
            <a:pPr indent="0" marL="0">
              <a:lnSpc>
                <a:spcPct val="108000"/>
              </a:lnSpc>
              <a:buNone/>
            </a:pPr>
            <a:r>
              <a:rPr lang="en-US" sz="1350" dirty="0">
                <a:solidFill>
                  <a:srgbClr val="3B4663"/>
                </a:solidFill>
                <a:latin typeface="Calibri" pitchFamily="34" charset="0"/>
                <a:ea typeface="Calibri" pitchFamily="34" charset="-122"/>
                <a:cs typeface="Calibri" pitchFamily="34" charset="-120"/>
              </a:rPr>
              <a:t>Each person, holding their own shadow and identity.</a:t>
            </a:r>
            <a:endParaRPr lang="en-US" sz="1350" dirty="0"/>
          </a:p>
        </p:txBody>
      </p:sp>
      <p:sp>
        <p:nvSpPr>
          <p:cNvPr id="12" name="Shape 9"/>
          <p:cNvSpPr/>
          <p:nvPr/>
        </p:nvSpPr>
        <p:spPr>
          <a:xfrm>
            <a:off x="566928" y="3383280"/>
            <a:ext cx="7498080" cy="786384"/>
          </a:xfrm>
          <a:prstGeom prst="roundRect">
            <a:avLst>
              <a:gd name="adj" fmla="val 8140"/>
            </a:avLst>
          </a:prstGeom>
          <a:solidFill>
            <a:srgbClr val="FBF8F0"/>
          </a:solidFill>
          <a:ln/>
          <a:effectLst>
            <a:outerShdw sx="100000" sy="100000" kx="0" ky="0" algn="bl" rotWithShape="0" blurRad="76200" dist="25400" dir="5400000">
              <a:srgbClr val="9A927C">
                <a:alpha val="20000"/>
              </a:srgbClr>
            </a:outerShdw>
          </a:effectLst>
        </p:spPr>
      </p:sp>
      <p:pic>
        <p:nvPicPr>
          <p:cNvPr id="13" name="Image 1" descr="preencoded.png">    </p:cNvPr>
          <p:cNvPicPr>
            <a:picLocks noChangeAspect="1"/>
          </p:cNvPicPr>
          <p:nvPr/>
        </p:nvPicPr>
        <p:blipFill>
          <a:blip r:embed="rId2"/>
          <a:stretch>
            <a:fillRect/>
          </a:stretch>
        </p:blipFill>
        <p:spPr>
          <a:xfrm>
            <a:off x="822960" y="3575304"/>
            <a:ext cx="402336" cy="402336"/>
          </a:xfrm>
          <a:prstGeom prst="rect">
            <a:avLst/>
          </a:prstGeom>
        </p:spPr>
      </p:pic>
      <p:sp>
        <p:nvSpPr>
          <p:cNvPr id="14" name="Text 10"/>
          <p:cNvSpPr/>
          <p:nvPr/>
        </p:nvSpPr>
        <p:spPr>
          <a:xfrm>
            <a:off x="1435608" y="3383280"/>
            <a:ext cx="2743200" cy="786384"/>
          </a:xfrm>
          <a:prstGeom prst="rect">
            <a:avLst/>
          </a:prstGeom>
          <a:noFill/>
          <a:ln/>
        </p:spPr>
        <p:txBody>
          <a:bodyPr wrap="square" lIns="0" tIns="0" rIns="0" bIns="0" rtlCol="0" anchor="ctr"/>
          <a:lstStyle/>
          <a:p>
            <a:pPr indent="0" marL="0">
              <a:buNone/>
            </a:pPr>
            <a:r>
              <a:rPr lang="en-US" sz="1800" b="1" dirty="0">
                <a:solidFill>
                  <a:srgbClr val="1B2A4A"/>
                </a:solidFill>
                <a:latin typeface="Cambria" pitchFamily="34" charset="0"/>
                <a:ea typeface="Cambria" pitchFamily="34" charset="-122"/>
                <a:cs typeface="Cambria" pitchFamily="34" charset="-120"/>
              </a:rPr>
              <a:t>Communities</a:t>
            </a:r>
            <a:endParaRPr lang="en-US" sz="1800" dirty="0"/>
          </a:p>
        </p:txBody>
      </p:sp>
      <p:sp>
        <p:nvSpPr>
          <p:cNvPr id="15" name="Text 11"/>
          <p:cNvSpPr/>
          <p:nvPr/>
        </p:nvSpPr>
        <p:spPr>
          <a:xfrm>
            <a:off x="4315968" y="3383280"/>
            <a:ext cx="3611880" cy="786384"/>
          </a:xfrm>
          <a:prstGeom prst="rect">
            <a:avLst/>
          </a:prstGeom>
          <a:noFill/>
          <a:ln/>
        </p:spPr>
        <p:txBody>
          <a:bodyPr wrap="square" lIns="0" tIns="0" rIns="0" bIns="0" rtlCol="0" anchor="ctr"/>
          <a:lstStyle/>
          <a:p>
            <a:pPr indent="0" marL="0">
              <a:lnSpc>
                <a:spcPct val="108000"/>
              </a:lnSpc>
              <a:buNone/>
            </a:pPr>
            <a:r>
              <a:rPr lang="en-US" sz="1350" dirty="0">
                <a:solidFill>
                  <a:srgbClr val="3B4663"/>
                </a:solidFill>
                <a:latin typeface="Calibri" pitchFamily="34" charset="0"/>
                <a:ea typeface="Calibri" pitchFamily="34" charset="-122"/>
                <a:cs typeface="Calibri" pitchFamily="34" charset="-120"/>
              </a:rPr>
              <a:t>Where people gather and set the rules of their own house.</a:t>
            </a:r>
            <a:endParaRPr lang="en-US" sz="1350" dirty="0"/>
          </a:p>
        </p:txBody>
      </p:sp>
      <p:sp>
        <p:nvSpPr>
          <p:cNvPr id="16" name="Shape 12"/>
          <p:cNvSpPr/>
          <p:nvPr/>
        </p:nvSpPr>
        <p:spPr>
          <a:xfrm>
            <a:off x="566928" y="4279392"/>
            <a:ext cx="7498080" cy="786384"/>
          </a:xfrm>
          <a:prstGeom prst="roundRect">
            <a:avLst>
              <a:gd name="adj" fmla="val 8140"/>
            </a:avLst>
          </a:prstGeom>
          <a:solidFill>
            <a:srgbClr val="FBF8F0"/>
          </a:solidFill>
          <a:ln/>
          <a:effectLst>
            <a:outerShdw sx="100000" sy="100000" kx="0" ky="0" algn="bl" rotWithShape="0" blurRad="76200" dist="25400" dir="5400000">
              <a:srgbClr val="9A927C">
                <a:alpha val="20000"/>
              </a:srgbClr>
            </a:outerShdw>
          </a:effectLst>
        </p:spPr>
      </p:sp>
      <p:pic>
        <p:nvPicPr>
          <p:cNvPr id="17" name="Image 2" descr="preencoded.png">    </p:cNvPr>
          <p:cNvPicPr>
            <a:picLocks noChangeAspect="1"/>
          </p:cNvPicPr>
          <p:nvPr/>
        </p:nvPicPr>
        <p:blipFill>
          <a:blip r:embed="rId3"/>
          <a:stretch>
            <a:fillRect/>
          </a:stretch>
        </p:blipFill>
        <p:spPr>
          <a:xfrm>
            <a:off x="822960" y="4471416"/>
            <a:ext cx="402336" cy="402336"/>
          </a:xfrm>
          <a:prstGeom prst="rect">
            <a:avLst/>
          </a:prstGeom>
        </p:spPr>
      </p:pic>
      <p:sp>
        <p:nvSpPr>
          <p:cNvPr id="18" name="Text 13"/>
          <p:cNvSpPr/>
          <p:nvPr/>
        </p:nvSpPr>
        <p:spPr>
          <a:xfrm>
            <a:off x="1435608" y="4279392"/>
            <a:ext cx="2743200" cy="786384"/>
          </a:xfrm>
          <a:prstGeom prst="rect">
            <a:avLst/>
          </a:prstGeom>
          <a:noFill/>
          <a:ln/>
        </p:spPr>
        <p:txBody>
          <a:bodyPr wrap="square" lIns="0" tIns="0" rIns="0" bIns="0" rtlCol="0" anchor="ctr"/>
          <a:lstStyle/>
          <a:p>
            <a:pPr indent="0" marL="0">
              <a:buNone/>
            </a:pPr>
            <a:r>
              <a:rPr lang="en-US" sz="1800" b="1" dirty="0">
                <a:solidFill>
                  <a:srgbClr val="1B2A4A"/>
                </a:solidFill>
                <a:latin typeface="Cambria" pitchFamily="34" charset="0"/>
                <a:ea typeface="Cambria" pitchFamily="34" charset="-122"/>
                <a:cs typeface="Cambria" pitchFamily="34" charset="-120"/>
              </a:rPr>
              <a:t>The Commonwealth</a:t>
            </a:r>
            <a:endParaRPr lang="en-US" sz="1800" dirty="0"/>
          </a:p>
        </p:txBody>
      </p:sp>
      <p:sp>
        <p:nvSpPr>
          <p:cNvPr id="19" name="Text 14"/>
          <p:cNvSpPr/>
          <p:nvPr/>
        </p:nvSpPr>
        <p:spPr>
          <a:xfrm>
            <a:off x="4315968" y="4279392"/>
            <a:ext cx="3611880" cy="786384"/>
          </a:xfrm>
          <a:prstGeom prst="rect">
            <a:avLst/>
          </a:prstGeom>
          <a:noFill/>
          <a:ln/>
        </p:spPr>
        <p:txBody>
          <a:bodyPr wrap="square" lIns="0" tIns="0" rIns="0" bIns="0" rtlCol="0" anchor="ctr"/>
          <a:lstStyle/>
          <a:p>
            <a:pPr indent="0" marL="0">
              <a:lnSpc>
                <a:spcPct val="108000"/>
              </a:lnSpc>
              <a:buNone/>
            </a:pPr>
            <a:r>
              <a:rPr lang="en-US" sz="1350" dirty="0">
                <a:solidFill>
                  <a:srgbClr val="3B4663"/>
                </a:solidFill>
                <a:latin typeface="Calibri" pitchFamily="34" charset="0"/>
                <a:ea typeface="Calibri" pitchFamily="34" charset="-122"/>
                <a:cs typeface="Calibri" pitchFamily="34" charset="-120"/>
              </a:rPr>
              <a:t>A thin, shared floor, deliberately the least powerful tier.</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p:bgPr>
    </p:bg>
    <p:spTree>
      <p:nvGrpSpPr>
        <p:cNvPr id="1" name=""/>
        <p:cNvGrpSpPr/>
        <p:nvPr/>
      </p:nvGrpSpPr>
      <p:grpSpPr>
        <a:xfrm>
          <a:off x="0" y="0"/>
          <a:ext cx="0" cy="0"/>
          <a:chOff x="0" y="0"/>
          <a:chExt cx="0" cy="0"/>
        </a:xfrm>
      </p:grpSpPr>
      <p:sp>
        <p:nvSpPr>
          <p:cNvPr id="2" name="Shape 0"/>
          <p:cNvSpPr/>
          <p:nvPr/>
        </p:nvSpPr>
        <p:spPr>
          <a:xfrm rot="2700000">
            <a:off x="566928" y="365760"/>
            <a:ext cx="109728" cy="109728"/>
          </a:xfrm>
          <a:prstGeom prst="rect">
            <a:avLst/>
          </a:prstGeom>
          <a:solidFill>
            <a:srgbClr val="B08D3A"/>
          </a:solidFill>
          <a:ln/>
        </p:spPr>
      </p:sp>
      <p:sp>
        <p:nvSpPr>
          <p:cNvPr id="3" name="Text 1"/>
          <p:cNvSpPr/>
          <p:nvPr/>
        </p:nvSpPr>
        <p:spPr>
          <a:xfrm>
            <a:off x="786384" y="274320"/>
            <a:ext cx="3657600" cy="292608"/>
          </a:xfrm>
          <a:prstGeom prst="rect">
            <a:avLst/>
          </a:prstGeom>
          <a:noFill/>
          <a:ln/>
        </p:spPr>
        <p:txBody>
          <a:bodyPr wrap="square" lIns="0" tIns="0" rIns="0" bIns="0" rtlCol="0" anchor="ctr"/>
          <a:lstStyle/>
          <a:p>
            <a:pPr indent="0" marL="0">
              <a:buNone/>
            </a:pPr>
            <a:r>
              <a:rPr lang="en-US" sz="1150" b="1" spc="300" kern="0" dirty="0">
                <a:solidFill>
                  <a:srgbClr val="F1ECDD"/>
                </a:solidFill>
                <a:latin typeface="Calibri" pitchFamily="34" charset="0"/>
                <a:ea typeface="Calibri" pitchFamily="34" charset="-122"/>
                <a:cs typeface="Calibri" pitchFamily="34" charset="-120"/>
              </a:rPr>
              <a:t>WE THE USERS</a:t>
            </a:r>
            <a:endParaRPr lang="en-US" sz="1150" dirty="0"/>
          </a:p>
        </p:txBody>
      </p:sp>
      <p:sp>
        <p:nvSpPr>
          <p:cNvPr id="4" name="Text 2"/>
          <p:cNvSpPr/>
          <p:nvPr/>
        </p:nvSpPr>
        <p:spPr>
          <a:xfrm>
            <a:off x="8138160" y="4668012"/>
            <a:ext cx="457200" cy="274320"/>
          </a:xfrm>
          <a:prstGeom prst="rect">
            <a:avLst/>
          </a:prstGeom>
          <a:noFill/>
          <a:ln/>
        </p:spPr>
        <p:txBody>
          <a:bodyPr wrap="square" lIns="0" tIns="0" rIns="0" bIns="0" rtlCol="0" anchor="ctr"/>
          <a:lstStyle/>
          <a:p>
            <a:pPr algn="r" indent="0" marL="0">
              <a:buNone/>
            </a:pPr>
            <a:r>
              <a:rPr lang="en-US" sz="1000" dirty="0">
                <a:solidFill>
                  <a:srgbClr val="9AA6BC"/>
                </a:solidFill>
                <a:latin typeface="Calibri" pitchFamily="34" charset="0"/>
                <a:ea typeface="Calibri" pitchFamily="34" charset="-122"/>
                <a:cs typeface="Calibri" pitchFamily="34" charset="-120"/>
              </a:rPr>
              <a:t>10</a:t>
            </a:r>
            <a:endParaRPr lang="en-US" sz="1000" dirty="0"/>
          </a:p>
        </p:txBody>
      </p:sp>
      <p:sp>
        <p:nvSpPr>
          <p:cNvPr id="5" name="Text 3"/>
          <p:cNvSpPr/>
          <p:nvPr/>
        </p:nvSpPr>
        <p:spPr>
          <a:xfrm>
            <a:off x="566928" y="1170432"/>
            <a:ext cx="7315200" cy="274320"/>
          </a:xfrm>
          <a:prstGeom prst="rect">
            <a:avLst/>
          </a:prstGeom>
          <a:noFill/>
          <a:ln/>
        </p:spPr>
        <p:txBody>
          <a:bodyPr wrap="square" lIns="0" tIns="0" rIns="0" bIns="0" rtlCol="0" anchor="ctr"/>
          <a:lstStyle/>
          <a:p>
            <a:pPr indent="0" marL="0">
              <a:buNone/>
            </a:pPr>
            <a:r>
              <a:rPr lang="en-US" sz="1250" b="1" spc="320" kern="0" dirty="0">
                <a:solidFill>
                  <a:srgbClr val="C9A24B"/>
                </a:solidFill>
                <a:latin typeface="Calibri" pitchFamily="34" charset="0"/>
                <a:ea typeface="Calibri" pitchFamily="34" charset="-122"/>
                <a:cs typeface="Calibri" pitchFamily="34" charset="-120"/>
              </a:rPr>
              <a:t>WHAT KEEPS IT HONEST</a:t>
            </a:r>
            <a:endParaRPr lang="en-US" sz="1250" dirty="0"/>
          </a:p>
        </p:txBody>
      </p:sp>
      <p:sp>
        <p:nvSpPr>
          <p:cNvPr id="6" name="Text 4"/>
          <p:cNvSpPr/>
          <p:nvPr/>
        </p:nvSpPr>
        <p:spPr>
          <a:xfrm>
            <a:off x="566928" y="1481328"/>
            <a:ext cx="8229600" cy="914400"/>
          </a:xfrm>
          <a:prstGeom prst="rect">
            <a:avLst/>
          </a:prstGeom>
          <a:noFill/>
          <a:ln/>
          <a:effectLst>
            <a:outerShdw sx="100000" sy="100000" kx="0" ky="0" algn="bl" rotWithShape="0" blurRad="114300" dist="50800" dir="5400000">
              <a:srgbClr val="000000">
                <a:alpha val="26000"/>
              </a:srgbClr>
            </a:outerShdw>
          </a:effectLst>
        </p:spPr>
        <p:txBody>
          <a:bodyPr wrap="square" lIns="0" tIns="0" rIns="0" bIns="0" rtlCol="0" anchor="ctr"/>
          <a:lstStyle/>
          <a:p>
            <a:pPr indent="0" marL="0">
              <a:lnSpc>
                <a:spcPct val="98000"/>
              </a:lnSpc>
              <a:buNone/>
            </a:pPr>
            <a:r>
              <a:rPr lang="en-US" sz="3100" b="1" dirty="0">
                <a:solidFill>
                  <a:srgbClr val="F1ECDD"/>
                </a:solidFill>
                <a:latin typeface="Cambria" pitchFamily="34" charset="0"/>
                <a:ea typeface="Cambria" pitchFamily="34" charset="-122"/>
                <a:cs typeface="Cambria" pitchFamily="34" charset="-120"/>
              </a:rPr>
              <a:t>Three guardrails against</a:t>
            </a:r>
            <a:endParaRPr lang="en-US" sz="3100" dirty="0"/>
          </a:p>
          <a:p>
            <a:pPr indent="0" marL="0">
              <a:lnSpc>
                <a:spcPct val="98000"/>
              </a:lnSpc>
              <a:buNone/>
            </a:pPr>
            <a:r>
              <a:rPr lang="en-US" sz="3100" b="1" dirty="0">
                <a:solidFill>
                  <a:srgbClr val="F1ECDD"/>
                </a:solidFill>
                <a:latin typeface="Cambria" pitchFamily="34" charset="0"/>
                <a:ea typeface="Cambria" pitchFamily="34" charset="-122"/>
                <a:cs typeface="Cambria" pitchFamily="34" charset="-120"/>
              </a:rPr>
              <a:t>the old internet's return.</a:t>
            </a:r>
            <a:endParaRPr lang="en-US" sz="3100" dirty="0"/>
          </a:p>
        </p:txBody>
      </p:sp>
      <p:sp>
        <p:nvSpPr>
          <p:cNvPr id="7" name="Shape 5"/>
          <p:cNvSpPr/>
          <p:nvPr/>
        </p:nvSpPr>
        <p:spPr>
          <a:xfrm>
            <a:off x="566928" y="2743200"/>
            <a:ext cx="2505456" cy="1874520"/>
          </a:xfrm>
          <a:prstGeom prst="roundRect">
            <a:avLst>
              <a:gd name="adj" fmla="val 3902"/>
            </a:avLst>
          </a:prstGeom>
          <a:solidFill>
            <a:srgbClr val="243457"/>
          </a:solidFill>
          <a:ln/>
          <a:effectLst>
            <a:outerShdw sx="100000" sy="100000" kx="0" ky="0" algn="bl" rotWithShape="0" blurRad="101600" dist="38100" dir="5400000">
              <a:srgbClr val="000000">
                <a:alpha val="34000"/>
              </a:srgbClr>
            </a:outerShdw>
          </a:effectLst>
        </p:spPr>
      </p:sp>
      <p:pic>
        <p:nvPicPr>
          <p:cNvPr id="8" name="Image 0" descr="preencoded.png">    </p:cNvPr>
          <p:cNvPicPr>
            <a:picLocks noChangeAspect="1"/>
          </p:cNvPicPr>
          <p:nvPr/>
        </p:nvPicPr>
        <p:blipFill>
          <a:blip r:embed="rId1"/>
          <a:stretch>
            <a:fillRect/>
          </a:stretch>
        </p:blipFill>
        <p:spPr>
          <a:xfrm>
            <a:off x="804672" y="2971800"/>
            <a:ext cx="548640" cy="548640"/>
          </a:xfrm>
          <a:prstGeom prst="rect">
            <a:avLst/>
          </a:prstGeom>
        </p:spPr>
      </p:pic>
      <p:sp>
        <p:nvSpPr>
          <p:cNvPr id="9" name="Text 6"/>
          <p:cNvSpPr/>
          <p:nvPr/>
        </p:nvSpPr>
        <p:spPr>
          <a:xfrm>
            <a:off x="804672" y="3621024"/>
            <a:ext cx="2048256" cy="365760"/>
          </a:xfrm>
          <a:prstGeom prst="rect">
            <a:avLst/>
          </a:prstGeom>
          <a:noFill/>
          <a:ln/>
        </p:spPr>
        <p:txBody>
          <a:bodyPr wrap="square" lIns="0" tIns="0" rIns="0" bIns="0" rtlCol="0" anchor="ctr"/>
          <a:lstStyle/>
          <a:p>
            <a:pPr indent="0" marL="0">
              <a:buNone/>
            </a:pPr>
            <a:r>
              <a:rPr lang="en-US" sz="1800" b="1" dirty="0">
                <a:solidFill>
                  <a:srgbClr val="C9A24B"/>
                </a:solidFill>
                <a:latin typeface="Cambria" pitchFamily="34" charset="0"/>
                <a:ea typeface="Cambria" pitchFamily="34" charset="-122"/>
                <a:cs typeface="Cambria" pitchFamily="34" charset="-120"/>
              </a:rPr>
              <a:t>Capped returns</a:t>
            </a:r>
            <a:endParaRPr lang="en-US" sz="1800" dirty="0"/>
          </a:p>
        </p:txBody>
      </p:sp>
      <p:sp>
        <p:nvSpPr>
          <p:cNvPr id="10" name="Text 7"/>
          <p:cNvSpPr/>
          <p:nvPr/>
        </p:nvSpPr>
        <p:spPr>
          <a:xfrm>
            <a:off x="804672" y="3968496"/>
            <a:ext cx="2048256" cy="566928"/>
          </a:xfrm>
          <a:prstGeom prst="rect">
            <a:avLst/>
          </a:prstGeom>
          <a:noFill/>
          <a:ln/>
        </p:spPr>
        <p:txBody>
          <a:bodyPr wrap="square" lIns="0" tIns="0" rIns="0" bIns="0" rtlCol="0" anchor="ctr"/>
          <a:lstStyle/>
          <a:p>
            <a:pPr indent="0" marL="0">
              <a:lnSpc>
                <a:spcPct val="110000"/>
              </a:lnSpc>
              <a:buNone/>
            </a:pPr>
            <a:r>
              <a:rPr lang="en-US" sz="1250" dirty="0">
                <a:solidFill>
                  <a:srgbClr val="CFD5E0"/>
                </a:solidFill>
                <a:latin typeface="Calibri" pitchFamily="34" charset="0"/>
                <a:ea typeface="Calibri" pitchFamily="34" charset="-122"/>
                <a:cs typeface="Calibri" pitchFamily="34" charset="-120"/>
              </a:rPr>
              <a:t>No one draws permanent rent on a public square.</a:t>
            </a:r>
            <a:endParaRPr lang="en-US" sz="1250" dirty="0"/>
          </a:p>
        </p:txBody>
      </p:sp>
      <p:sp>
        <p:nvSpPr>
          <p:cNvPr id="11" name="Shape 8"/>
          <p:cNvSpPr/>
          <p:nvPr/>
        </p:nvSpPr>
        <p:spPr>
          <a:xfrm>
            <a:off x="3236976" y="2743200"/>
            <a:ext cx="2505456" cy="1874520"/>
          </a:xfrm>
          <a:prstGeom prst="roundRect">
            <a:avLst>
              <a:gd name="adj" fmla="val 3902"/>
            </a:avLst>
          </a:prstGeom>
          <a:solidFill>
            <a:srgbClr val="243457"/>
          </a:solidFill>
          <a:ln/>
          <a:effectLst>
            <a:outerShdw sx="100000" sy="100000" kx="0" ky="0" algn="bl" rotWithShape="0" blurRad="101600" dist="38100" dir="5400000">
              <a:srgbClr val="000000">
                <a:alpha val="34000"/>
              </a:srgbClr>
            </a:outerShdw>
          </a:effectLst>
        </p:spPr>
      </p:sp>
      <p:pic>
        <p:nvPicPr>
          <p:cNvPr id="12" name="Image 1" descr="preencoded.png">    </p:cNvPr>
          <p:cNvPicPr>
            <a:picLocks noChangeAspect="1"/>
          </p:cNvPicPr>
          <p:nvPr/>
        </p:nvPicPr>
        <p:blipFill>
          <a:blip r:embed="rId2"/>
          <a:stretch>
            <a:fillRect/>
          </a:stretch>
        </p:blipFill>
        <p:spPr>
          <a:xfrm>
            <a:off x="3474720" y="2971800"/>
            <a:ext cx="548640" cy="548640"/>
          </a:xfrm>
          <a:prstGeom prst="rect">
            <a:avLst/>
          </a:prstGeom>
        </p:spPr>
      </p:pic>
      <p:sp>
        <p:nvSpPr>
          <p:cNvPr id="13" name="Text 9"/>
          <p:cNvSpPr/>
          <p:nvPr/>
        </p:nvSpPr>
        <p:spPr>
          <a:xfrm>
            <a:off x="3474720" y="3621024"/>
            <a:ext cx="2048256" cy="365760"/>
          </a:xfrm>
          <a:prstGeom prst="rect">
            <a:avLst/>
          </a:prstGeom>
          <a:noFill/>
          <a:ln/>
        </p:spPr>
        <p:txBody>
          <a:bodyPr wrap="square" lIns="0" tIns="0" rIns="0" bIns="0" rtlCol="0" anchor="ctr"/>
          <a:lstStyle/>
          <a:p>
            <a:pPr indent="0" marL="0">
              <a:buNone/>
            </a:pPr>
            <a:r>
              <a:rPr lang="en-US" sz="1800" b="1" dirty="0">
                <a:solidFill>
                  <a:srgbClr val="C9A24B"/>
                </a:solidFill>
                <a:latin typeface="Cambria" pitchFamily="34" charset="0"/>
                <a:ea typeface="Cambria" pitchFamily="34" charset="-122"/>
                <a:cs typeface="Cambria" pitchFamily="34" charset="-120"/>
              </a:rPr>
              <a:t>Written in the open</a:t>
            </a:r>
            <a:endParaRPr lang="en-US" sz="1800" dirty="0"/>
          </a:p>
        </p:txBody>
      </p:sp>
      <p:sp>
        <p:nvSpPr>
          <p:cNvPr id="14" name="Text 10"/>
          <p:cNvSpPr/>
          <p:nvPr/>
        </p:nvSpPr>
        <p:spPr>
          <a:xfrm>
            <a:off x="3474720" y="3968496"/>
            <a:ext cx="2048256" cy="566928"/>
          </a:xfrm>
          <a:prstGeom prst="rect">
            <a:avLst/>
          </a:prstGeom>
          <a:noFill/>
          <a:ln/>
        </p:spPr>
        <p:txBody>
          <a:bodyPr wrap="square" lIns="0" tIns="0" rIns="0" bIns="0" rtlCol="0" anchor="ctr"/>
          <a:lstStyle/>
          <a:p>
            <a:pPr indent="0" marL="0">
              <a:lnSpc>
                <a:spcPct val="110000"/>
              </a:lnSpc>
              <a:buNone/>
            </a:pPr>
            <a:r>
              <a:rPr lang="en-US" sz="1250" dirty="0">
                <a:solidFill>
                  <a:srgbClr val="CFD5E0"/>
                </a:solidFill>
                <a:latin typeface="Calibri" pitchFamily="34" charset="0"/>
                <a:ea typeface="Calibri" pitchFamily="34" charset="-122"/>
                <a:cs typeface="Calibri" pitchFamily="34" charset="-120"/>
              </a:rPr>
              <a:t>The Covenant and the Code, with nothing run in secret.</a:t>
            </a:r>
            <a:endParaRPr lang="en-US" sz="1250" dirty="0"/>
          </a:p>
        </p:txBody>
      </p:sp>
      <p:sp>
        <p:nvSpPr>
          <p:cNvPr id="15" name="Shape 11"/>
          <p:cNvSpPr/>
          <p:nvPr/>
        </p:nvSpPr>
        <p:spPr>
          <a:xfrm>
            <a:off x="5907024" y="2743200"/>
            <a:ext cx="2505456" cy="1874520"/>
          </a:xfrm>
          <a:prstGeom prst="roundRect">
            <a:avLst>
              <a:gd name="adj" fmla="val 3902"/>
            </a:avLst>
          </a:prstGeom>
          <a:solidFill>
            <a:srgbClr val="243457"/>
          </a:solidFill>
          <a:ln/>
          <a:effectLst>
            <a:outerShdw sx="100000" sy="100000" kx="0" ky="0" algn="bl" rotWithShape="0" blurRad="101600" dist="38100" dir="5400000">
              <a:srgbClr val="000000">
                <a:alpha val="34000"/>
              </a:srgbClr>
            </a:outerShdw>
          </a:effectLst>
        </p:spPr>
      </p:sp>
      <p:pic>
        <p:nvPicPr>
          <p:cNvPr id="16" name="Image 2" descr="preencoded.png">    </p:cNvPr>
          <p:cNvPicPr>
            <a:picLocks noChangeAspect="1"/>
          </p:cNvPicPr>
          <p:nvPr/>
        </p:nvPicPr>
        <p:blipFill>
          <a:blip r:embed="rId3"/>
          <a:stretch>
            <a:fillRect/>
          </a:stretch>
        </p:blipFill>
        <p:spPr>
          <a:xfrm>
            <a:off x="6144768" y="2971800"/>
            <a:ext cx="548640" cy="548640"/>
          </a:xfrm>
          <a:prstGeom prst="rect">
            <a:avLst/>
          </a:prstGeom>
        </p:spPr>
      </p:pic>
      <p:sp>
        <p:nvSpPr>
          <p:cNvPr id="17" name="Text 12"/>
          <p:cNvSpPr/>
          <p:nvPr/>
        </p:nvSpPr>
        <p:spPr>
          <a:xfrm>
            <a:off x="6144768" y="3621024"/>
            <a:ext cx="2048256" cy="365760"/>
          </a:xfrm>
          <a:prstGeom prst="rect">
            <a:avLst/>
          </a:prstGeom>
          <a:noFill/>
          <a:ln/>
        </p:spPr>
        <p:txBody>
          <a:bodyPr wrap="square" lIns="0" tIns="0" rIns="0" bIns="0" rtlCol="0" anchor="ctr"/>
          <a:lstStyle/>
          <a:p>
            <a:pPr indent="0" marL="0">
              <a:buNone/>
            </a:pPr>
            <a:r>
              <a:rPr lang="en-US" sz="1800" b="1" dirty="0">
                <a:solidFill>
                  <a:srgbClr val="C9A24B"/>
                </a:solidFill>
                <a:latin typeface="Cambria" pitchFamily="34" charset="0"/>
                <a:ea typeface="Cambria" pitchFamily="34" charset="-122"/>
                <a:cs typeface="Cambria" pitchFamily="34" charset="-120"/>
              </a:rPr>
              <a:t>Forkable</a:t>
            </a:r>
            <a:endParaRPr lang="en-US" sz="1800" dirty="0"/>
          </a:p>
        </p:txBody>
      </p:sp>
      <p:sp>
        <p:nvSpPr>
          <p:cNvPr id="18" name="Text 13"/>
          <p:cNvSpPr/>
          <p:nvPr/>
        </p:nvSpPr>
        <p:spPr>
          <a:xfrm>
            <a:off x="6144768" y="3968496"/>
            <a:ext cx="2048256" cy="566928"/>
          </a:xfrm>
          <a:prstGeom prst="rect">
            <a:avLst/>
          </a:prstGeom>
          <a:noFill/>
          <a:ln/>
        </p:spPr>
        <p:txBody>
          <a:bodyPr wrap="square" lIns="0" tIns="0" rIns="0" bIns="0" rtlCol="0" anchor="ctr"/>
          <a:lstStyle/>
          <a:p>
            <a:pPr indent="0" marL="0">
              <a:lnSpc>
                <a:spcPct val="110000"/>
              </a:lnSpc>
              <a:buNone/>
            </a:pPr>
            <a:r>
              <a:rPr lang="en-US" sz="1250" dirty="0">
                <a:solidFill>
                  <a:srgbClr val="CFD5E0"/>
                </a:solidFill>
                <a:latin typeface="Calibri" pitchFamily="34" charset="0"/>
                <a:ea typeface="Calibri" pitchFamily="34" charset="-122"/>
                <a:cs typeface="Calibri" pitchFamily="34" charset="-120"/>
              </a:rPr>
              <a:t>If the center betrays the people, they take it and leave.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3203B"/>
        </a:solidFill>
      </p:bgPr>
    </p:bg>
    <p:spTree>
      <p:nvGrpSpPr>
        <p:cNvPr id="1" name=""/>
        <p:cNvGrpSpPr/>
        <p:nvPr/>
      </p:nvGrpSpPr>
      <p:grpSpPr>
        <a:xfrm>
          <a:off x="0" y="0"/>
          <a:ext cx="0" cy="0"/>
          <a:chOff x="0" y="0"/>
          <a:chExt cx="0" cy="0"/>
        </a:xfrm>
      </p:grpSpPr>
      <p:sp>
        <p:nvSpPr>
          <p:cNvPr id="2" name="Shape 0"/>
          <p:cNvSpPr/>
          <p:nvPr/>
        </p:nvSpPr>
        <p:spPr>
          <a:xfrm rot="2700000">
            <a:off x="566928" y="365760"/>
            <a:ext cx="109728" cy="109728"/>
          </a:xfrm>
          <a:prstGeom prst="rect">
            <a:avLst/>
          </a:prstGeom>
          <a:solidFill>
            <a:srgbClr val="B08D3A"/>
          </a:solidFill>
          <a:ln/>
        </p:spPr>
      </p:sp>
      <p:sp>
        <p:nvSpPr>
          <p:cNvPr id="3" name="Text 1"/>
          <p:cNvSpPr/>
          <p:nvPr/>
        </p:nvSpPr>
        <p:spPr>
          <a:xfrm>
            <a:off x="786384" y="274320"/>
            <a:ext cx="3657600" cy="292608"/>
          </a:xfrm>
          <a:prstGeom prst="rect">
            <a:avLst/>
          </a:prstGeom>
          <a:noFill/>
          <a:ln/>
        </p:spPr>
        <p:txBody>
          <a:bodyPr wrap="square" lIns="0" tIns="0" rIns="0" bIns="0" rtlCol="0" anchor="ctr"/>
          <a:lstStyle/>
          <a:p>
            <a:pPr indent="0" marL="0">
              <a:buNone/>
            </a:pPr>
            <a:r>
              <a:rPr lang="en-US" sz="1150" b="1" spc="300" kern="0" dirty="0">
                <a:solidFill>
                  <a:srgbClr val="F1ECDD"/>
                </a:solidFill>
                <a:latin typeface="Calibri" pitchFamily="34" charset="0"/>
                <a:ea typeface="Calibri" pitchFamily="34" charset="-122"/>
                <a:cs typeface="Calibri" pitchFamily="34" charset="-120"/>
              </a:rPr>
              <a:t>WE THE USERS</a:t>
            </a:r>
            <a:endParaRPr lang="en-US" sz="1150" dirty="0"/>
          </a:p>
        </p:txBody>
      </p:sp>
      <p:sp>
        <p:nvSpPr>
          <p:cNvPr id="4" name="Text 2"/>
          <p:cNvSpPr/>
          <p:nvPr/>
        </p:nvSpPr>
        <p:spPr>
          <a:xfrm>
            <a:off x="8138160" y="4668012"/>
            <a:ext cx="457200" cy="274320"/>
          </a:xfrm>
          <a:prstGeom prst="rect">
            <a:avLst/>
          </a:prstGeom>
          <a:noFill/>
          <a:ln/>
        </p:spPr>
        <p:txBody>
          <a:bodyPr wrap="square" lIns="0" tIns="0" rIns="0" bIns="0" rtlCol="0" anchor="ctr"/>
          <a:lstStyle/>
          <a:p>
            <a:pPr algn="r" indent="0" marL="0">
              <a:buNone/>
            </a:pPr>
            <a:r>
              <a:rPr lang="en-US" sz="1000" dirty="0">
                <a:solidFill>
                  <a:srgbClr val="9AA6BC"/>
                </a:solidFill>
                <a:latin typeface="Calibri" pitchFamily="34" charset="0"/>
                <a:ea typeface="Calibri" pitchFamily="34" charset="-122"/>
                <a:cs typeface="Calibri" pitchFamily="34" charset="-120"/>
              </a:rPr>
              <a:t>11</a:t>
            </a:r>
            <a:endParaRPr lang="en-US" sz="1000" dirty="0"/>
          </a:p>
        </p:txBody>
      </p:sp>
      <p:sp>
        <p:nvSpPr>
          <p:cNvPr id="5" name="Text 3"/>
          <p:cNvSpPr/>
          <p:nvPr/>
        </p:nvSpPr>
        <p:spPr>
          <a:xfrm>
            <a:off x="566928" y="1188720"/>
            <a:ext cx="7315200" cy="274320"/>
          </a:xfrm>
          <a:prstGeom prst="rect">
            <a:avLst/>
          </a:prstGeom>
          <a:noFill/>
          <a:ln/>
        </p:spPr>
        <p:txBody>
          <a:bodyPr wrap="square" lIns="0" tIns="0" rIns="0" bIns="0" rtlCol="0" anchor="ctr"/>
          <a:lstStyle/>
          <a:p>
            <a:pPr indent="0" marL="0">
              <a:buNone/>
            </a:pPr>
            <a:r>
              <a:rPr lang="en-US" sz="1250" b="1" spc="320" kern="0" dirty="0">
                <a:solidFill>
                  <a:srgbClr val="C9A24B"/>
                </a:solidFill>
                <a:latin typeface="Calibri" pitchFamily="34" charset="0"/>
                <a:ea typeface="Calibri" pitchFamily="34" charset="-122"/>
                <a:cs typeface="Calibri" pitchFamily="34" charset="-120"/>
              </a:rPr>
              <a:t>THE HORIZON</a:t>
            </a:r>
            <a:endParaRPr lang="en-US" sz="1250" dirty="0"/>
          </a:p>
        </p:txBody>
      </p:sp>
      <p:sp>
        <p:nvSpPr>
          <p:cNvPr id="6" name="Text 4"/>
          <p:cNvSpPr/>
          <p:nvPr/>
        </p:nvSpPr>
        <p:spPr>
          <a:xfrm>
            <a:off x="566928" y="1783080"/>
            <a:ext cx="8229600" cy="1554480"/>
          </a:xfrm>
          <a:prstGeom prst="rect">
            <a:avLst/>
          </a:prstGeom>
          <a:noFill/>
          <a:ln/>
          <a:effectLst>
            <a:outerShdw sx="100000" sy="100000" kx="0" ky="0" algn="bl" rotWithShape="0" blurRad="152400" dist="76200" dir="5400000">
              <a:srgbClr val="000000">
                <a:alpha val="36000"/>
              </a:srgbClr>
            </a:outerShdw>
          </a:effectLst>
        </p:spPr>
        <p:txBody>
          <a:bodyPr wrap="square" lIns="0" tIns="0" rIns="0" bIns="0" rtlCol="0" anchor="ctr"/>
          <a:lstStyle/>
          <a:p>
            <a:pPr algn="l" indent="0" marL="0">
              <a:buNone/>
            </a:pPr>
            <a:r>
              <a:rPr lang="en-US" sz="12000" b="1" dirty="0">
                <a:solidFill>
                  <a:srgbClr val="F1ECDD"/>
                </a:solidFill>
                <a:latin typeface="Cambria" pitchFamily="34" charset="0"/>
                <a:ea typeface="Cambria" pitchFamily="34" charset="-122"/>
                <a:cs typeface="Cambria" pitchFamily="34" charset="-120"/>
              </a:rPr>
              <a:t>1,000</a:t>
            </a:r>
            <a:pPr algn="l" indent="0" marL="0">
              <a:buNone/>
            </a:pPr>
            <a:r>
              <a:rPr lang="en-US" sz="5200" i="1" dirty="0">
                <a:solidFill>
                  <a:srgbClr val="C9A24B"/>
                </a:solidFill>
                <a:latin typeface="Cambria" pitchFamily="34" charset="0"/>
                <a:ea typeface="Cambria" pitchFamily="34" charset="-122"/>
                <a:cs typeface="Cambria" pitchFamily="34" charset="-120"/>
              </a:rPr>
              <a:t>  years</a:t>
            </a:r>
            <a:endParaRPr lang="en-US" sz="12000" dirty="0"/>
          </a:p>
        </p:txBody>
      </p:sp>
      <p:sp>
        <p:nvSpPr>
          <p:cNvPr id="7" name="Text 5"/>
          <p:cNvSpPr/>
          <p:nvPr/>
        </p:nvSpPr>
        <p:spPr>
          <a:xfrm>
            <a:off x="566928" y="3749040"/>
            <a:ext cx="7955280" cy="868680"/>
          </a:xfrm>
          <a:prstGeom prst="rect">
            <a:avLst/>
          </a:prstGeom>
          <a:noFill/>
          <a:ln/>
        </p:spPr>
        <p:txBody>
          <a:bodyPr wrap="square" lIns="0" tIns="0" rIns="0" bIns="0" rtlCol="0" anchor="ctr"/>
          <a:lstStyle/>
          <a:p>
            <a:pPr indent="0" marL="0">
              <a:lnSpc>
                <a:spcPct val="116000"/>
              </a:lnSpc>
              <a:buNone/>
            </a:pPr>
            <a:r>
              <a:rPr lang="en-US" sz="1700" dirty="0">
                <a:solidFill>
                  <a:srgbClr val="CFD5E0"/>
                </a:solidFill>
                <a:latin typeface="Calibri" pitchFamily="34" charset="0"/>
                <a:ea typeface="Calibri" pitchFamily="34" charset="-122"/>
                <a:cs typeface="Calibri" pitchFamily="34" charset="-120"/>
              </a:rPr>
              <a:t>Not built for the next quarter. Built for the next thousand years, because only an internet owned by the people who use it is built to last that long.</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1EA"/>
        </a:solidFill>
      </p:bgPr>
    </p:bg>
    <p:spTree>
      <p:nvGrpSpPr>
        <p:cNvPr id="1" name=""/>
        <p:cNvGrpSpPr/>
        <p:nvPr/>
      </p:nvGrpSpPr>
      <p:grpSpPr>
        <a:xfrm>
          <a:off x="0" y="0"/>
          <a:ext cx="0" cy="0"/>
          <a:chOff x="0" y="0"/>
          <a:chExt cx="0" cy="0"/>
        </a:xfrm>
      </p:grpSpPr>
      <p:sp>
        <p:nvSpPr>
          <p:cNvPr id="2" name="Shape 0"/>
          <p:cNvSpPr/>
          <p:nvPr/>
        </p:nvSpPr>
        <p:spPr>
          <a:xfrm rot="2700000">
            <a:off x="566928" y="365760"/>
            <a:ext cx="109728" cy="109728"/>
          </a:xfrm>
          <a:prstGeom prst="rect">
            <a:avLst/>
          </a:prstGeom>
          <a:solidFill>
            <a:srgbClr val="B08D3A"/>
          </a:solidFill>
          <a:ln/>
        </p:spPr>
      </p:sp>
      <p:sp>
        <p:nvSpPr>
          <p:cNvPr id="3" name="Text 1"/>
          <p:cNvSpPr/>
          <p:nvPr/>
        </p:nvSpPr>
        <p:spPr>
          <a:xfrm>
            <a:off x="786384" y="274320"/>
            <a:ext cx="3657600" cy="292608"/>
          </a:xfrm>
          <a:prstGeom prst="rect">
            <a:avLst/>
          </a:prstGeom>
          <a:noFill/>
          <a:ln/>
        </p:spPr>
        <p:txBody>
          <a:bodyPr wrap="square" lIns="0" tIns="0" rIns="0" bIns="0" rtlCol="0" anchor="ctr"/>
          <a:lstStyle/>
          <a:p>
            <a:pPr indent="0" marL="0">
              <a:buNone/>
            </a:pPr>
            <a:r>
              <a:rPr lang="en-US" sz="1150" b="1" spc="300" kern="0" dirty="0">
                <a:solidFill>
                  <a:srgbClr val="1B2A4A"/>
                </a:solidFill>
                <a:latin typeface="Calibri" pitchFamily="34" charset="0"/>
                <a:ea typeface="Calibri" pitchFamily="34" charset="-122"/>
                <a:cs typeface="Calibri" pitchFamily="34" charset="-120"/>
              </a:rPr>
              <a:t>WE THE USERS</a:t>
            </a:r>
            <a:endParaRPr lang="en-US" sz="1150" dirty="0"/>
          </a:p>
        </p:txBody>
      </p:sp>
      <p:sp>
        <p:nvSpPr>
          <p:cNvPr id="4" name="Text 2"/>
          <p:cNvSpPr/>
          <p:nvPr/>
        </p:nvSpPr>
        <p:spPr>
          <a:xfrm>
            <a:off x="8138160" y="4668012"/>
            <a:ext cx="457200" cy="274320"/>
          </a:xfrm>
          <a:prstGeom prst="rect">
            <a:avLst/>
          </a:prstGeom>
          <a:noFill/>
          <a:ln/>
        </p:spPr>
        <p:txBody>
          <a:bodyPr wrap="square" lIns="0" tIns="0" rIns="0" bIns="0" rtlCol="0" anchor="ctr"/>
          <a:lstStyle/>
          <a:p>
            <a:pPr algn="r" indent="0" marL="0">
              <a:buNone/>
            </a:pPr>
            <a:r>
              <a:rPr lang="en-US" sz="1000" dirty="0">
                <a:solidFill>
                  <a:srgbClr val="76716A"/>
                </a:solidFill>
                <a:latin typeface="Calibri" pitchFamily="34" charset="0"/>
                <a:ea typeface="Calibri" pitchFamily="34" charset="-122"/>
                <a:cs typeface="Calibri" pitchFamily="34" charset="-120"/>
              </a:rPr>
              <a:t>12</a:t>
            </a:r>
            <a:endParaRPr lang="en-US" sz="1000" dirty="0"/>
          </a:p>
        </p:txBody>
      </p:sp>
      <p:sp>
        <p:nvSpPr>
          <p:cNvPr id="5" name="Text 3"/>
          <p:cNvSpPr/>
          <p:nvPr/>
        </p:nvSpPr>
        <p:spPr>
          <a:xfrm>
            <a:off x="566928" y="1097280"/>
            <a:ext cx="7315200" cy="274320"/>
          </a:xfrm>
          <a:prstGeom prst="rect">
            <a:avLst/>
          </a:prstGeom>
          <a:noFill/>
          <a:ln/>
        </p:spPr>
        <p:txBody>
          <a:bodyPr wrap="square" lIns="0" tIns="0" rIns="0" bIns="0" rtlCol="0" anchor="ctr"/>
          <a:lstStyle/>
          <a:p>
            <a:pPr indent="0" marL="0">
              <a:buNone/>
            </a:pPr>
            <a:r>
              <a:rPr lang="en-US" sz="1250" b="1" spc="320" kern="0" dirty="0">
                <a:solidFill>
                  <a:srgbClr val="B08D3A"/>
                </a:solidFill>
                <a:latin typeface="Calibri" pitchFamily="34" charset="0"/>
                <a:ea typeface="Calibri" pitchFamily="34" charset="-122"/>
                <a:cs typeface="Calibri" pitchFamily="34" charset="-120"/>
              </a:rPr>
              <a:t>THE CASE</a:t>
            </a:r>
            <a:endParaRPr lang="en-US" sz="1250" dirty="0"/>
          </a:p>
        </p:txBody>
      </p:sp>
      <p:sp>
        <p:nvSpPr>
          <p:cNvPr id="6" name="Text 4"/>
          <p:cNvSpPr/>
          <p:nvPr/>
        </p:nvSpPr>
        <p:spPr>
          <a:xfrm>
            <a:off x="566928" y="1417320"/>
            <a:ext cx="8229600" cy="960120"/>
          </a:xfrm>
          <a:prstGeom prst="rect">
            <a:avLst/>
          </a:prstGeom>
          <a:noFill/>
          <a:ln/>
        </p:spPr>
        <p:txBody>
          <a:bodyPr wrap="square" lIns="0" tIns="0" rIns="0" bIns="0" rtlCol="0" anchor="ctr"/>
          <a:lstStyle/>
          <a:p>
            <a:pPr indent="0" marL="0">
              <a:lnSpc>
                <a:spcPct val="98000"/>
              </a:lnSpc>
              <a:buNone/>
            </a:pPr>
            <a:r>
              <a:rPr lang="en-US" sz="3800" b="1" dirty="0">
                <a:solidFill>
                  <a:srgbClr val="1B2A4A"/>
                </a:solidFill>
                <a:latin typeface="Cambria" pitchFamily="34" charset="0"/>
                <a:ea typeface="Cambria" pitchFamily="34" charset="-122"/>
                <a:cs typeface="Cambria" pitchFamily="34" charset="-120"/>
              </a:rPr>
              <a:t>We didn't just declare it.</a:t>
            </a:r>
            <a:endParaRPr lang="en-US" sz="3800" dirty="0"/>
          </a:p>
          <a:p>
            <a:pPr indent="0" marL="0">
              <a:lnSpc>
                <a:spcPct val="98000"/>
              </a:lnSpc>
              <a:buNone/>
            </a:pPr>
            <a:r>
              <a:rPr lang="en-US" sz="3800" b="1" dirty="0">
                <a:solidFill>
                  <a:srgbClr val="1B2A4A"/>
                </a:solidFill>
                <a:latin typeface="Cambria" pitchFamily="34" charset="0"/>
                <a:ea typeface="Cambria" pitchFamily="34" charset="-122"/>
                <a:cs typeface="Cambria" pitchFamily="34" charset="-120"/>
              </a:rPr>
              <a:t>We made the case.</a:t>
            </a:r>
            <a:endParaRPr lang="en-US" sz="3800" dirty="0"/>
          </a:p>
        </p:txBody>
      </p:sp>
      <p:sp>
        <p:nvSpPr>
          <p:cNvPr id="7" name="Text 5"/>
          <p:cNvSpPr/>
          <p:nvPr/>
        </p:nvSpPr>
        <p:spPr>
          <a:xfrm>
            <a:off x="566928" y="2697480"/>
            <a:ext cx="457200" cy="384048"/>
          </a:xfrm>
          <a:prstGeom prst="rect">
            <a:avLst/>
          </a:prstGeom>
          <a:noFill/>
          <a:ln/>
        </p:spPr>
        <p:txBody>
          <a:bodyPr wrap="square" lIns="0" tIns="0" rIns="0" bIns="0" rtlCol="0" anchor="ctr"/>
          <a:lstStyle/>
          <a:p>
            <a:pPr indent="0" marL="0">
              <a:buNone/>
            </a:pPr>
            <a:r>
              <a:rPr lang="en-US" sz="1900" b="1" dirty="0">
                <a:solidFill>
                  <a:srgbClr val="B08D3A"/>
                </a:solidFill>
                <a:latin typeface="Cambria" pitchFamily="34" charset="0"/>
                <a:ea typeface="Cambria" pitchFamily="34" charset="-122"/>
                <a:cs typeface="Cambria" pitchFamily="34" charset="-120"/>
              </a:rPr>
              <a:t>01</a:t>
            </a:r>
            <a:endParaRPr lang="en-US" sz="1900" dirty="0"/>
          </a:p>
        </p:txBody>
      </p:sp>
      <p:sp>
        <p:nvSpPr>
          <p:cNvPr id="8" name="Text 6"/>
          <p:cNvSpPr/>
          <p:nvPr/>
        </p:nvSpPr>
        <p:spPr>
          <a:xfrm>
            <a:off x="1133856" y="2697480"/>
            <a:ext cx="5120640" cy="384048"/>
          </a:xfrm>
          <a:prstGeom prst="rect">
            <a:avLst/>
          </a:prstGeom>
          <a:noFill/>
          <a:ln/>
        </p:spPr>
        <p:txBody>
          <a:bodyPr wrap="square" lIns="0" tIns="0" rIns="0" bIns="0" rtlCol="0" anchor="ctr"/>
          <a:lstStyle/>
          <a:p>
            <a:pPr indent="0" marL="0">
              <a:buNone/>
            </a:pPr>
            <a:r>
              <a:rPr lang="en-US" sz="1650" b="1" dirty="0">
                <a:solidFill>
                  <a:srgbClr val="1B2A4A"/>
                </a:solidFill>
                <a:latin typeface="Cambria" pitchFamily="34" charset="0"/>
                <a:ea typeface="Cambria" pitchFamily="34" charset="-122"/>
                <a:cs typeface="Cambria" pitchFamily="34" charset="-120"/>
              </a:rPr>
              <a:t>It Is Not the Weather</a:t>
            </a:r>
            <a:endParaRPr lang="en-US" sz="1650" dirty="0"/>
          </a:p>
        </p:txBody>
      </p:sp>
      <p:sp>
        <p:nvSpPr>
          <p:cNvPr id="9" name="Text 7"/>
          <p:cNvSpPr/>
          <p:nvPr/>
        </p:nvSpPr>
        <p:spPr>
          <a:xfrm>
            <a:off x="6327648" y="2697480"/>
            <a:ext cx="2240280" cy="384048"/>
          </a:xfrm>
          <a:prstGeom prst="rect">
            <a:avLst/>
          </a:prstGeom>
          <a:noFill/>
          <a:ln/>
        </p:spPr>
        <p:txBody>
          <a:bodyPr wrap="square" lIns="0" tIns="0" rIns="0" bIns="0" rtlCol="0" anchor="ctr"/>
          <a:lstStyle/>
          <a:p>
            <a:pPr indent="0" marL="0">
              <a:buNone/>
            </a:pPr>
            <a:r>
              <a:rPr lang="en-US" sz="1200" i="1" dirty="0">
                <a:solidFill>
                  <a:srgbClr val="76716A"/>
                </a:solidFill>
                <a:latin typeface="Calibri" pitchFamily="34" charset="0"/>
                <a:ea typeface="Calibri" pitchFamily="34" charset="-122"/>
                <a:cs typeface="Calibri" pitchFamily="34" charset="-120"/>
              </a:rPr>
              <a:t>why change is possible</a:t>
            </a:r>
            <a:endParaRPr lang="en-US" sz="1200" dirty="0"/>
          </a:p>
        </p:txBody>
      </p:sp>
      <p:sp>
        <p:nvSpPr>
          <p:cNvPr id="10" name="Text 8"/>
          <p:cNvSpPr/>
          <p:nvPr/>
        </p:nvSpPr>
        <p:spPr>
          <a:xfrm>
            <a:off x="566928" y="3081528"/>
            <a:ext cx="457200" cy="384048"/>
          </a:xfrm>
          <a:prstGeom prst="rect">
            <a:avLst/>
          </a:prstGeom>
          <a:noFill/>
          <a:ln/>
        </p:spPr>
        <p:txBody>
          <a:bodyPr wrap="square" lIns="0" tIns="0" rIns="0" bIns="0" rtlCol="0" anchor="ctr"/>
          <a:lstStyle/>
          <a:p>
            <a:pPr indent="0" marL="0">
              <a:buNone/>
            </a:pPr>
            <a:r>
              <a:rPr lang="en-US" sz="1900" b="1" dirty="0">
                <a:solidFill>
                  <a:srgbClr val="B08D3A"/>
                </a:solidFill>
                <a:latin typeface="Cambria" pitchFamily="34" charset="0"/>
                <a:ea typeface="Cambria" pitchFamily="34" charset="-122"/>
                <a:cs typeface="Cambria" pitchFamily="34" charset="-120"/>
              </a:rPr>
              <a:t>02</a:t>
            </a:r>
            <a:endParaRPr lang="en-US" sz="1900" dirty="0"/>
          </a:p>
        </p:txBody>
      </p:sp>
      <p:sp>
        <p:nvSpPr>
          <p:cNvPr id="11" name="Text 9"/>
          <p:cNvSpPr/>
          <p:nvPr/>
        </p:nvSpPr>
        <p:spPr>
          <a:xfrm>
            <a:off x="1133856" y="3081528"/>
            <a:ext cx="5120640" cy="384048"/>
          </a:xfrm>
          <a:prstGeom prst="rect">
            <a:avLst/>
          </a:prstGeom>
          <a:noFill/>
          <a:ln/>
        </p:spPr>
        <p:txBody>
          <a:bodyPr wrap="square" lIns="0" tIns="0" rIns="0" bIns="0" rtlCol="0" anchor="ctr"/>
          <a:lstStyle/>
          <a:p>
            <a:pPr indent="0" marL="0">
              <a:buNone/>
            </a:pPr>
            <a:r>
              <a:rPr lang="en-US" sz="1650" b="1" dirty="0">
                <a:solidFill>
                  <a:srgbClr val="1B2A4A"/>
                </a:solidFill>
                <a:latin typeface="Cambria" pitchFamily="34" charset="0"/>
                <a:ea typeface="Cambria" pitchFamily="34" charset="-122"/>
                <a:cs typeface="Cambria" pitchFamily="34" charset="-120"/>
              </a:rPr>
              <a:t>The Shape of Your Digital Shadow</a:t>
            </a:r>
            <a:endParaRPr lang="en-US" sz="1650" dirty="0"/>
          </a:p>
        </p:txBody>
      </p:sp>
      <p:sp>
        <p:nvSpPr>
          <p:cNvPr id="12" name="Text 10"/>
          <p:cNvSpPr/>
          <p:nvPr/>
        </p:nvSpPr>
        <p:spPr>
          <a:xfrm>
            <a:off x="6327648" y="3081528"/>
            <a:ext cx="2240280" cy="384048"/>
          </a:xfrm>
          <a:prstGeom prst="rect">
            <a:avLst/>
          </a:prstGeom>
          <a:noFill/>
          <a:ln/>
        </p:spPr>
        <p:txBody>
          <a:bodyPr wrap="square" lIns="0" tIns="0" rIns="0" bIns="0" rtlCol="0" anchor="ctr"/>
          <a:lstStyle/>
          <a:p>
            <a:pPr indent="0" marL="0">
              <a:buNone/>
            </a:pPr>
            <a:r>
              <a:rPr lang="en-US" sz="1200" i="1" dirty="0">
                <a:solidFill>
                  <a:srgbClr val="76716A"/>
                </a:solidFill>
                <a:latin typeface="Calibri" pitchFamily="34" charset="0"/>
                <a:ea typeface="Calibri" pitchFamily="34" charset="-122"/>
                <a:cs typeface="Calibri" pitchFamily="34" charset="-120"/>
              </a:rPr>
              <a:t>what your data is made of</a:t>
            </a:r>
            <a:endParaRPr lang="en-US" sz="1200" dirty="0"/>
          </a:p>
        </p:txBody>
      </p:sp>
      <p:sp>
        <p:nvSpPr>
          <p:cNvPr id="13" name="Text 11"/>
          <p:cNvSpPr/>
          <p:nvPr/>
        </p:nvSpPr>
        <p:spPr>
          <a:xfrm>
            <a:off x="566928" y="3465576"/>
            <a:ext cx="457200" cy="384048"/>
          </a:xfrm>
          <a:prstGeom prst="rect">
            <a:avLst/>
          </a:prstGeom>
          <a:noFill/>
          <a:ln/>
        </p:spPr>
        <p:txBody>
          <a:bodyPr wrap="square" lIns="0" tIns="0" rIns="0" bIns="0" rtlCol="0" anchor="ctr"/>
          <a:lstStyle/>
          <a:p>
            <a:pPr indent="0" marL="0">
              <a:buNone/>
            </a:pPr>
            <a:r>
              <a:rPr lang="en-US" sz="1900" b="1" dirty="0">
                <a:solidFill>
                  <a:srgbClr val="B08D3A"/>
                </a:solidFill>
                <a:latin typeface="Cambria" pitchFamily="34" charset="0"/>
                <a:ea typeface="Cambria" pitchFamily="34" charset="-122"/>
                <a:cs typeface="Cambria" pitchFamily="34" charset="-120"/>
              </a:rPr>
              <a:t>03</a:t>
            </a:r>
            <a:endParaRPr lang="en-US" sz="1900" dirty="0"/>
          </a:p>
        </p:txBody>
      </p:sp>
      <p:sp>
        <p:nvSpPr>
          <p:cNvPr id="14" name="Text 12"/>
          <p:cNvSpPr/>
          <p:nvPr/>
        </p:nvSpPr>
        <p:spPr>
          <a:xfrm>
            <a:off x="1133856" y="3465576"/>
            <a:ext cx="5120640" cy="384048"/>
          </a:xfrm>
          <a:prstGeom prst="rect">
            <a:avLst/>
          </a:prstGeom>
          <a:noFill/>
          <a:ln/>
        </p:spPr>
        <p:txBody>
          <a:bodyPr wrap="square" lIns="0" tIns="0" rIns="0" bIns="0" rtlCol="0" anchor="ctr"/>
          <a:lstStyle/>
          <a:p>
            <a:pPr indent="0" marL="0">
              <a:buNone/>
            </a:pPr>
            <a:r>
              <a:rPr lang="en-US" sz="1650" b="1" dirty="0">
                <a:solidFill>
                  <a:srgbClr val="1B2A4A"/>
                </a:solidFill>
                <a:latin typeface="Cambria" pitchFamily="34" charset="0"/>
                <a:ea typeface="Cambria" pitchFamily="34" charset="-122"/>
                <a:cs typeface="Cambria" pitchFamily="34" charset="-120"/>
              </a:rPr>
              <a:t>Ambition Against Ambition</a:t>
            </a:r>
            <a:endParaRPr lang="en-US" sz="1650" dirty="0"/>
          </a:p>
        </p:txBody>
      </p:sp>
      <p:sp>
        <p:nvSpPr>
          <p:cNvPr id="15" name="Text 13"/>
          <p:cNvSpPr/>
          <p:nvPr/>
        </p:nvSpPr>
        <p:spPr>
          <a:xfrm>
            <a:off x="6327648" y="3465576"/>
            <a:ext cx="2240280" cy="384048"/>
          </a:xfrm>
          <a:prstGeom prst="rect">
            <a:avLst/>
          </a:prstGeom>
          <a:noFill/>
          <a:ln/>
        </p:spPr>
        <p:txBody>
          <a:bodyPr wrap="square" lIns="0" tIns="0" rIns="0" bIns="0" rtlCol="0" anchor="ctr"/>
          <a:lstStyle/>
          <a:p>
            <a:pPr indent="0" marL="0">
              <a:buNone/>
            </a:pPr>
            <a:r>
              <a:rPr lang="en-US" sz="1200" i="1" dirty="0">
                <a:solidFill>
                  <a:srgbClr val="76716A"/>
                </a:solidFill>
                <a:latin typeface="Calibri" pitchFamily="34" charset="0"/>
                <a:ea typeface="Calibri" pitchFamily="34" charset="-122"/>
                <a:cs typeface="Calibri" pitchFamily="34" charset="-120"/>
              </a:rPr>
              <a:t>how power stays divided</a:t>
            </a:r>
            <a:endParaRPr lang="en-US" sz="1200" dirty="0"/>
          </a:p>
        </p:txBody>
      </p:sp>
      <p:sp>
        <p:nvSpPr>
          <p:cNvPr id="16" name="Text 14"/>
          <p:cNvSpPr/>
          <p:nvPr/>
        </p:nvSpPr>
        <p:spPr>
          <a:xfrm>
            <a:off x="566928" y="3849624"/>
            <a:ext cx="457200" cy="384048"/>
          </a:xfrm>
          <a:prstGeom prst="rect">
            <a:avLst/>
          </a:prstGeom>
          <a:noFill/>
          <a:ln/>
        </p:spPr>
        <p:txBody>
          <a:bodyPr wrap="square" lIns="0" tIns="0" rIns="0" bIns="0" rtlCol="0" anchor="ctr"/>
          <a:lstStyle/>
          <a:p>
            <a:pPr indent="0" marL="0">
              <a:buNone/>
            </a:pPr>
            <a:r>
              <a:rPr lang="en-US" sz="1900" b="1" dirty="0">
                <a:solidFill>
                  <a:srgbClr val="B08D3A"/>
                </a:solidFill>
                <a:latin typeface="Cambria" pitchFamily="34" charset="0"/>
                <a:ea typeface="Cambria" pitchFamily="34" charset="-122"/>
                <a:cs typeface="Cambria" pitchFamily="34" charset="-120"/>
              </a:rPr>
              <a:t>04</a:t>
            </a:r>
            <a:endParaRPr lang="en-US" sz="1900" dirty="0"/>
          </a:p>
        </p:txBody>
      </p:sp>
      <p:sp>
        <p:nvSpPr>
          <p:cNvPr id="17" name="Text 15"/>
          <p:cNvSpPr/>
          <p:nvPr/>
        </p:nvSpPr>
        <p:spPr>
          <a:xfrm>
            <a:off x="1133856" y="3849624"/>
            <a:ext cx="5120640" cy="384048"/>
          </a:xfrm>
          <a:prstGeom prst="rect">
            <a:avLst/>
          </a:prstGeom>
          <a:noFill/>
          <a:ln/>
        </p:spPr>
        <p:txBody>
          <a:bodyPr wrap="square" lIns="0" tIns="0" rIns="0" bIns="0" rtlCol="0" anchor="ctr"/>
          <a:lstStyle/>
          <a:p>
            <a:pPr indent="0" marL="0">
              <a:buNone/>
            </a:pPr>
            <a:r>
              <a:rPr lang="en-US" sz="1650" b="1" dirty="0">
                <a:solidFill>
                  <a:srgbClr val="1B2A4A"/>
                </a:solidFill>
                <a:latin typeface="Cambria" pitchFamily="34" charset="0"/>
                <a:ea typeface="Cambria" pitchFamily="34" charset="-122"/>
                <a:cs typeface="Cambria" pitchFamily="34" charset="-120"/>
              </a:rPr>
              <a:t>The Longer Race</a:t>
            </a:r>
            <a:endParaRPr lang="en-US" sz="1650" dirty="0"/>
          </a:p>
        </p:txBody>
      </p:sp>
      <p:sp>
        <p:nvSpPr>
          <p:cNvPr id="18" name="Text 16"/>
          <p:cNvSpPr/>
          <p:nvPr/>
        </p:nvSpPr>
        <p:spPr>
          <a:xfrm>
            <a:off x="6327648" y="3849624"/>
            <a:ext cx="2240280" cy="384048"/>
          </a:xfrm>
          <a:prstGeom prst="rect">
            <a:avLst/>
          </a:prstGeom>
          <a:noFill/>
          <a:ln/>
        </p:spPr>
        <p:txBody>
          <a:bodyPr wrap="square" lIns="0" tIns="0" rIns="0" bIns="0" rtlCol="0" anchor="ctr"/>
          <a:lstStyle/>
          <a:p>
            <a:pPr indent="0" marL="0">
              <a:buNone/>
            </a:pPr>
            <a:r>
              <a:rPr lang="en-US" sz="1200" i="1" dirty="0">
                <a:solidFill>
                  <a:srgbClr val="76716A"/>
                </a:solidFill>
                <a:latin typeface="Calibri" pitchFamily="34" charset="0"/>
                <a:ea typeface="Calibri" pitchFamily="34" charset="-122"/>
                <a:cs typeface="Calibri" pitchFamily="34" charset="-120"/>
              </a:rPr>
              <a:t>the economics</a:t>
            </a:r>
            <a:endParaRPr lang="en-US" sz="1200" dirty="0"/>
          </a:p>
        </p:txBody>
      </p:sp>
      <p:sp>
        <p:nvSpPr>
          <p:cNvPr id="19" name="Text 17"/>
          <p:cNvSpPr/>
          <p:nvPr/>
        </p:nvSpPr>
        <p:spPr>
          <a:xfrm>
            <a:off x="566928" y="4233672"/>
            <a:ext cx="457200" cy="384048"/>
          </a:xfrm>
          <a:prstGeom prst="rect">
            <a:avLst/>
          </a:prstGeom>
          <a:noFill/>
          <a:ln/>
        </p:spPr>
        <p:txBody>
          <a:bodyPr wrap="square" lIns="0" tIns="0" rIns="0" bIns="0" rtlCol="0" anchor="ctr"/>
          <a:lstStyle/>
          <a:p>
            <a:pPr indent="0" marL="0">
              <a:buNone/>
            </a:pPr>
            <a:r>
              <a:rPr lang="en-US" sz="1900" b="1" dirty="0">
                <a:solidFill>
                  <a:srgbClr val="B08D3A"/>
                </a:solidFill>
                <a:latin typeface="Cambria" pitchFamily="34" charset="0"/>
                <a:ea typeface="Cambria" pitchFamily="34" charset="-122"/>
                <a:cs typeface="Cambria" pitchFamily="34" charset="-120"/>
              </a:rPr>
              <a:t>05</a:t>
            </a:r>
            <a:endParaRPr lang="en-US" sz="1900" dirty="0"/>
          </a:p>
        </p:txBody>
      </p:sp>
      <p:sp>
        <p:nvSpPr>
          <p:cNvPr id="20" name="Text 18"/>
          <p:cNvSpPr/>
          <p:nvPr/>
        </p:nvSpPr>
        <p:spPr>
          <a:xfrm>
            <a:off x="1133856" y="4233672"/>
            <a:ext cx="5120640" cy="384048"/>
          </a:xfrm>
          <a:prstGeom prst="rect">
            <a:avLst/>
          </a:prstGeom>
          <a:noFill/>
          <a:ln/>
        </p:spPr>
        <p:txBody>
          <a:bodyPr wrap="square" lIns="0" tIns="0" rIns="0" bIns="0" rtlCol="0" anchor="ctr"/>
          <a:lstStyle/>
          <a:p>
            <a:pPr indent="0" marL="0">
              <a:buNone/>
            </a:pPr>
            <a:r>
              <a:rPr lang="en-US" sz="1650" b="1" dirty="0">
                <a:solidFill>
                  <a:srgbClr val="1B2A4A"/>
                </a:solidFill>
                <a:latin typeface="Cambria" pitchFamily="34" charset="0"/>
                <a:ea typeface="Cambria" pitchFamily="34" charset="-122"/>
                <a:cs typeface="Cambria" pitchFamily="34" charset="-120"/>
              </a:rPr>
              <a:t>The Ledger and the Spoils</a:t>
            </a:r>
            <a:endParaRPr lang="en-US" sz="1650" dirty="0"/>
          </a:p>
        </p:txBody>
      </p:sp>
      <p:sp>
        <p:nvSpPr>
          <p:cNvPr id="21" name="Text 19"/>
          <p:cNvSpPr/>
          <p:nvPr/>
        </p:nvSpPr>
        <p:spPr>
          <a:xfrm>
            <a:off x="6327648" y="4233672"/>
            <a:ext cx="2240280" cy="384048"/>
          </a:xfrm>
          <a:prstGeom prst="rect">
            <a:avLst/>
          </a:prstGeom>
          <a:noFill/>
          <a:ln/>
        </p:spPr>
        <p:txBody>
          <a:bodyPr wrap="square" lIns="0" tIns="0" rIns="0" bIns="0" rtlCol="0" anchor="ctr"/>
          <a:lstStyle/>
          <a:p>
            <a:pPr indent="0" marL="0">
              <a:buNone/>
            </a:pPr>
            <a:r>
              <a:rPr lang="en-US" sz="1200" i="1" dirty="0">
                <a:solidFill>
                  <a:srgbClr val="76716A"/>
                </a:solidFill>
                <a:latin typeface="Calibri" pitchFamily="34" charset="0"/>
                <a:ea typeface="Calibri" pitchFamily="34" charset="-122"/>
                <a:cs typeface="Calibri" pitchFamily="34" charset="-120"/>
              </a:rPr>
              <a:t>AI meets crypto</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A4A"/>
        </a:solidFill>
      </p:bgPr>
    </p:bg>
    <p:spTree>
      <p:nvGrpSpPr>
        <p:cNvPr id="1" name=""/>
        <p:cNvGrpSpPr/>
        <p:nvPr/>
      </p:nvGrpSpPr>
      <p:grpSpPr>
        <a:xfrm>
          <a:off x="0" y="0"/>
          <a:ext cx="0" cy="0"/>
          <a:chOff x="0" y="0"/>
          <a:chExt cx="0" cy="0"/>
        </a:xfrm>
      </p:grpSpPr>
      <p:sp>
        <p:nvSpPr>
          <p:cNvPr id="2" name="Shape 0"/>
          <p:cNvSpPr/>
          <p:nvPr/>
        </p:nvSpPr>
        <p:spPr>
          <a:xfrm rot="2700000">
            <a:off x="566928" y="365760"/>
            <a:ext cx="109728" cy="109728"/>
          </a:xfrm>
          <a:prstGeom prst="rect">
            <a:avLst/>
          </a:prstGeom>
          <a:solidFill>
            <a:srgbClr val="B08D3A"/>
          </a:solidFill>
          <a:ln/>
        </p:spPr>
      </p:sp>
      <p:sp>
        <p:nvSpPr>
          <p:cNvPr id="3" name="Text 1"/>
          <p:cNvSpPr/>
          <p:nvPr/>
        </p:nvSpPr>
        <p:spPr>
          <a:xfrm>
            <a:off x="786384" y="274320"/>
            <a:ext cx="3657600" cy="292608"/>
          </a:xfrm>
          <a:prstGeom prst="rect">
            <a:avLst/>
          </a:prstGeom>
          <a:noFill/>
          <a:ln/>
        </p:spPr>
        <p:txBody>
          <a:bodyPr wrap="square" lIns="0" tIns="0" rIns="0" bIns="0" rtlCol="0" anchor="ctr"/>
          <a:lstStyle/>
          <a:p>
            <a:pPr indent="0" marL="0">
              <a:buNone/>
            </a:pPr>
            <a:r>
              <a:rPr lang="en-US" sz="1150" b="1" spc="300" kern="0" dirty="0">
                <a:solidFill>
                  <a:srgbClr val="F1ECDD"/>
                </a:solidFill>
                <a:latin typeface="Calibri" pitchFamily="34" charset="0"/>
                <a:ea typeface="Calibri" pitchFamily="34" charset="-122"/>
                <a:cs typeface="Calibri" pitchFamily="34" charset="-120"/>
              </a:rPr>
              <a:t>WE THE USERS</a:t>
            </a:r>
            <a:endParaRPr lang="en-US" sz="1150" dirty="0"/>
          </a:p>
        </p:txBody>
      </p:sp>
      <p:sp>
        <p:nvSpPr>
          <p:cNvPr id="4" name="Text 2"/>
          <p:cNvSpPr/>
          <p:nvPr/>
        </p:nvSpPr>
        <p:spPr>
          <a:xfrm>
            <a:off x="8138160" y="4668012"/>
            <a:ext cx="457200" cy="274320"/>
          </a:xfrm>
          <a:prstGeom prst="rect">
            <a:avLst/>
          </a:prstGeom>
          <a:noFill/>
          <a:ln/>
        </p:spPr>
        <p:txBody>
          <a:bodyPr wrap="square" lIns="0" tIns="0" rIns="0" bIns="0" rtlCol="0" anchor="ctr"/>
          <a:lstStyle/>
          <a:p>
            <a:pPr algn="r" indent="0" marL="0">
              <a:buNone/>
            </a:pPr>
            <a:r>
              <a:rPr lang="en-US" sz="1000" dirty="0">
                <a:solidFill>
                  <a:srgbClr val="9AA6BC"/>
                </a:solidFill>
                <a:latin typeface="Calibri" pitchFamily="34" charset="0"/>
                <a:ea typeface="Calibri" pitchFamily="34" charset="-122"/>
                <a:cs typeface="Calibri" pitchFamily="34" charset="-120"/>
              </a:rPr>
              <a:t>13</a:t>
            </a:r>
            <a:endParaRPr lang="en-US" sz="1000" dirty="0"/>
          </a:p>
        </p:txBody>
      </p:sp>
      <p:sp>
        <p:nvSpPr>
          <p:cNvPr id="5" name="Text 3"/>
          <p:cNvSpPr/>
          <p:nvPr/>
        </p:nvSpPr>
        <p:spPr>
          <a:xfrm>
            <a:off x="566928" y="1828800"/>
            <a:ext cx="2103120" cy="274320"/>
          </a:xfrm>
          <a:prstGeom prst="rect">
            <a:avLst/>
          </a:prstGeom>
          <a:noFill/>
          <a:ln/>
        </p:spPr>
        <p:txBody>
          <a:bodyPr wrap="square" lIns="0" tIns="0" rIns="0" bIns="0" rtlCol="0" anchor="ctr"/>
          <a:lstStyle/>
          <a:p>
            <a:pPr indent="0" marL="0">
              <a:buNone/>
            </a:pPr>
            <a:r>
              <a:rPr lang="en-US" sz="1300" b="1" spc="300" kern="0" dirty="0">
                <a:solidFill>
                  <a:srgbClr val="C9A24B"/>
                </a:solidFill>
                <a:latin typeface="Calibri" pitchFamily="34" charset="0"/>
                <a:ea typeface="Calibri" pitchFamily="34" charset="-122"/>
                <a:cs typeface="Calibri" pitchFamily="34" charset="-120"/>
              </a:rPr>
              <a:t>ESSAY</a:t>
            </a:r>
            <a:endParaRPr lang="en-US" sz="1300" dirty="0"/>
          </a:p>
        </p:txBody>
      </p:sp>
      <p:sp>
        <p:nvSpPr>
          <p:cNvPr id="6" name="Text 4"/>
          <p:cNvSpPr/>
          <p:nvPr/>
        </p:nvSpPr>
        <p:spPr>
          <a:xfrm>
            <a:off x="521208" y="2066544"/>
            <a:ext cx="2194560" cy="1325880"/>
          </a:xfrm>
          <a:prstGeom prst="rect">
            <a:avLst/>
          </a:prstGeom>
          <a:noFill/>
          <a:ln/>
          <a:effectLst>
            <a:outerShdw sx="100000" sy="100000" kx="0" ky="0" algn="bl" rotWithShape="0" blurRad="114300" dist="50800" dir="5400000">
              <a:srgbClr val="000000">
                <a:alpha val="30000"/>
              </a:srgbClr>
            </a:outerShdw>
          </a:effectLst>
        </p:spPr>
        <p:txBody>
          <a:bodyPr wrap="square" lIns="0" tIns="0" rIns="0" bIns="0" rtlCol="0" anchor="ctr"/>
          <a:lstStyle/>
          <a:p>
            <a:pPr indent="0" marL="0">
              <a:buNone/>
            </a:pPr>
            <a:r>
              <a:rPr lang="en-US" sz="11000" b="1" dirty="0">
                <a:solidFill>
                  <a:srgbClr val="C9A24B"/>
                </a:solidFill>
                <a:latin typeface="Cambria" pitchFamily="34" charset="0"/>
                <a:ea typeface="Cambria" pitchFamily="34" charset="-122"/>
                <a:cs typeface="Cambria" pitchFamily="34" charset="-120"/>
              </a:rPr>
              <a:t>01</a:t>
            </a:r>
            <a:endParaRPr lang="en-US" sz="11000" dirty="0"/>
          </a:p>
        </p:txBody>
      </p:sp>
      <p:sp>
        <p:nvSpPr>
          <p:cNvPr id="7" name="Text 5"/>
          <p:cNvSpPr/>
          <p:nvPr/>
        </p:nvSpPr>
        <p:spPr>
          <a:xfrm>
            <a:off x="2926080" y="1371600"/>
            <a:ext cx="5669280" cy="274320"/>
          </a:xfrm>
          <a:prstGeom prst="rect">
            <a:avLst/>
          </a:prstGeom>
          <a:noFill/>
          <a:ln/>
        </p:spPr>
        <p:txBody>
          <a:bodyPr wrap="square" lIns="0" tIns="0" rIns="0" bIns="0" rtlCol="0" anchor="ctr"/>
          <a:lstStyle/>
          <a:p>
            <a:pPr indent="0" marL="0">
              <a:buNone/>
            </a:pPr>
            <a:r>
              <a:rPr lang="en-US" sz="1250" b="1" spc="300" kern="0" dirty="0">
                <a:solidFill>
                  <a:srgbClr val="C9A24B"/>
                </a:solidFill>
                <a:latin typeface="Calibri" pitchFamily="34" charset="0"/>
                <a:ea typeface="Calibri" pitchFamily="34" charset="-122"/>
                <a:cs typeface="Calibri" pitchFamily="34" charset="-120"/>
              </a:rPr>
              <a:t>WHY CHANGE IS POSSIBLE</a:t>
            </a:r>
            <a:endParaRPr lang="en-US" sz="1250" dirty="0"/>
          </a:p>
        </p:txBody>
      </p:sp>
      <p:sp>
        <p:nvSpPr>
          <p:cNvPr id="8" name="Text 6"/>
          <p:cNvSpPr/>
          <p:nvPr/>
        </p:nvSpPr>
        <p:spPr>
          <a:xfrm>
            <a:off x="2926080" y="1691640"/>
            <a:ext cx="5669280" cy="960120"/>
          </a:xfrm>
          <a:prstGeom prst="rect">
            <a:avLst/>
          </a:prstGeom>
          <a:noFill/>
          <a:ln/>
          <a:effectLst>
            <a:outerShdw sx="100000" sy="100000" kx="0" ky="0" algn="bl" rotWithShape="0" blurRad="114300" dist="50800" dir="5400000">
              <a:srgbClr val="000000">
                <a:alpha val="28000"/>
              </a:srgbClr>
            </a:outerShdw>
          </a:effectLst>
        </p:spPr>
        <p:txBody>
          <a:bodyPr wrap="square" lIns="0" tIns="0" rIns="0" bIns="0" rtlCol="0" anchor="ctr"/>
          <a:lstStyle/>
          <a:p>
            <a:pPr indent="0" marL="0">
              <a:lnSpc>
                <a:spcPct val="98000"/>
              </a:lnSpc>
              <a:buNone/>
            </a:pPr>
            <a:r>
              <a:rPr lang="en-US" sz="3200" b="1" dirty="0">
                <a:solidFill>
                  <a:srgbClr val="F1ECDD"/>
                </a:solidFill>
                <a:latin typeface="Cambria" pitchFamily="34" charset="0"/>
                <a:ea typeface="Cambria" pitchFamily="34" charset="-122"/>
                <a:cs typeface="Cambria" pitchFamily="34" charset="-120"/>
              </a:rPr>
              <a:t>It Is Not the Weather</a:t>
            </a:r>
            <a:endParaRPr lang="en-US" sz="3200" dirty="0"/>
          </a:p>
        </p:txBody>
      </p:sp>
      <p:sp>
        <p:nvSpPr>
          <p:cNvPr id="9" name="Text 7"/>
          <p:cNvSpPr/>
          <p:nvPr/>
        </p:nvSpPr>
        <p:spPr>
          <a:xfrm>
            <a:off x="2926080" y="2743200"/>
            <a:ext cx="5669280" cy="502920"/>
          </a:xfrm>
          <a:prstGeom prst="rect">
            <a:avLst/>
          </a:prstGeom>
          <a:noFill/>
          <a:ln/>
        </p:spPr>
        <p:txBody>
          <a:bodyPr wrap="square" lIns="0" tIns="0" rIns="0" bIns="0" rtlCol="0" anchor="ctr"/>
          <a:lstStyle/>
          <a:p>
            <a:pPr indent="0" marL="0">
              <a:lnSpc>
                <a:spcPct val="100000"/>
              </a:lnSpc>
              <a:buNone/>
            </a:pPr>
            <a:r>
              <a:rPr lang="en-US" sz="1900" i="1" dirty="0">
                <a:solidFill>
                  <a:srgbClr val="C9A24B"/>
                </a:solidFill>
                <a:latin typeface="Cambria" pitchFamily="34" charset="0"/>
                <a:ea typeface="Cambria" pitchFamily="34" charset="-122"/>
                <a:cs typeface="Cambria" pitchFamily="34" charset="-120"/>
              </a:rPr>
              <a:t>What was built can be built differently.</a:t>
            </a:r>
            <a:endParaRPr lang="en-US" sz="1900" dirty="0"/>
          </a:p>
        </p:txBody>
      </p:sp>
      <p:sp>
        <p:nvSpPr>
          <p:cNvPr id="10" name="Text 8"/>
          <p:cNvSpPr/>
          <p:nvPr/>
        </p:nvSpPr>
        <p:spPr>
          <a:xfrm>
            <a:off x="2926080" y="3346704"/>
            <a:ext cx="5669280" cy="1371600"/>
          </a:xfrm>
          <a:prstGeom prst="rect">
            <a:avLst/>
          </a:prstGeom>
          <a:noFill/>
          <a:ln/>
        </p:spPr>
        <p:txBody>
          <a:bodyPr wrap="square" lIns="0" tIns="0" rIns="0" bIns="0" rtlCol="0" anchor="ctr"/>
          <a:lstStyle/>
          <a:p>
            <a:pPr indent="0" marL="0">
              <a:lnSpc>
                <a:spcPct val="116000"/>
              </a:lnSpc>
              <a:buNone/>
            </a:pPr>
            <a:r>
              <a:rPr lang="en-US" sz="1400" dirty="0">
                <a:solidFill>
                  <a:srgbClr val="CFD5E0"/>
                </a:solidFill>
                <a:latin typeface="Calibri" pitchFamily="34" charset="0"/>
                <a:ea typeface="Calibri" pitchFamily="34" charset="-122"/>
                <a:cs typeface="Calibri" pitchFamily="34" charset="-120"/>
              </a:rPr>
              <a:t>We treat the extractive internet as inevitable. It is not. It was designed this way by a few, for their benefit, and a design is a choice we can remake.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1EA"/>
        </a:solidFill>
      </p:bgPr>
    </p:bg>
    <p:spTree>
      <p:nvGrpSpPr>
        <p:cNvPr id="1" name=""/>
        <p:cNvGrpSpPr/>
        <p:nvPr/>
      </p:nvGrpSpPr>
      <p:grpSpPr>
        <a:xfrm>
          <a:off x="0" y="0"/>
          <a:ext cx="0" cy="0"/>
          <a:chOff x="0" y="0"/>
          <a:chExt cx="0" cy="0"/>
        </a:xfrm>
      </p:grpSpPr>
      <p:sp>
        <p:nvSpPr>
          <p:cNvPr id="2" name="Shape 0"/>
          <p:cNvSpPr/>
          <p:nvPr/>
        </p:nvSpPr>
        <p:spPr>
          <a:xfrm rot="2700000">
            <a:off x="566928" y="365760"/>
            <a:ext cx="109728" cy="109728"/>
          </a:xfrm>
          <a:prstGeom prst="rect">
            <a:avLst/>
          </a:prstGeom>
          <a:solidFill>
            <a:srgbClr val="B08D3A"/>
          </a:solidFill>
          <a:ln/>
        </p:spPr>
      </p:sp>
      <p:sp>
        <p:nvSpPr>
          <p:cNvPr id="3" name="Text 1"/>
          <p:cNvSpPr/>
          <p:nvPr/>
        </p:nvSpPr>
        <p:spPr>
          <a:xfrm>
            <a:off x="786384" y="274320"/>
            <a:ext cx="3657600" cy="292608"/>
          </a:xfrm>
          <a:prstGeom prst="rect">
            <a:avLst/>
          </a:prstGeom>
          <a:noFill/>
          <a:ln/>
        </p:spPr>
        <p:txBody>
          <a:bodyPr wrap="square" lIns="0" tIns="0" rIns="0" bIns="0" rtlCol="0" anchor="ctr"/>
          <a:lstStyle/>
          <a:p>
            <a:pPr indent="0" marL="0">
              <a:buNone/>
            </a:pPr>
            <a:r>
              <a:rPr lang="en-US" sz="1150" b="1" spc="300" kern="0" dirty="0">
                <a:solidFill>
                  <a:srgbClr val="1B2A4A"/>
                </a:solidFill>
                <a:latin typeface="Calibri" pitchFamily="34" charset="0"/>
                <a:ea typeface="Calibri" pitchFamily="34" charset="-122"/>
                <a:cs typeface="Calibri" pitchFamily="34" charset="-120"/>
              </a:rPr>
              <a:t>WE THE USERS</a:t>
            </a:r>
            <a:endParaRPr lang="en-US" sz="1150" dirty="0"/>
          </a:p>
        </p:txBody>
      </p:sp>
      <p:sp>
        <p:nvSpPr>
          <p:cNvPr id="4" name="Text 2"/>
          <p:cNvSpPr/>
          <p:nvPr/>
        </p:nvSpPr>
        <p:spPr>
          <a:xfrm>
            <a:off x="8138160" y="4668012"/>
            <a:ext cx="457200" cy="274320"/>
          </a:xfrm>
          <a:prstGeom prst="rect">
            <a:avLst/>
          </a:prstGeom>
          <a:noFill/>
          <a:ln/>
        </p:spPr>
        <p:txBody>
          <a:bodyPr wrap="square" lIns="0" tIns="0" rIns="0" bIns="0" rtlCol="0" anchor="ctr"/>
          <a:lstStyle/>
          <a:p>
            <a:pPr algn="r" indent="0" marL="0">
              <a:buNone/>
            </a:pPr>
            <a:r>
              <a:rPr lang="en-US" sz="1000" dirty="0">
                <a:solidFill>
                  <a:srgbClr val="76716A"/>
                </a:solidFill>
                <a:latin typeface="Calibri" pitchFamily="34" charset="0"/>
                <a:ea typeface="Calibri" pitchFamily="34" charset="-122"/>
                <a:cs typeface="Calibri" pitchFamily="34" charset="-120"/>
              </a:rPr>
              <a:t>14</a:t>
            </a:r>
            <a:endParaRPr lang="en-US" sz="1000" dirty="0"/>
          </a:p>
        </p:txBody>
      </p:sp>
      <p:sp>
        <p:nvSpPr>
          <p:cNvPr id="5" name="Text 3"/>
          <p:cNvSpPr/>
          <p:nvPr/>
        </p:nvSpPr>
        <p:spPr>
          <a:xfrm>
            <a:off x="566928" y="1828800"/>
            <a:ext cx="2103120" cy="274320"/>
          </a:xfrm>
          <a:prstGeom prst="rect">
            <a:avLst/>
          </a:prstGeom>
          <a:noFill/>
          <a:ln/>
        </p:spPr>
        <p:txBody>
          <a:bodyPr wrap="square" lIns="0" tIns="0" rIns="0" bIns="0" rtlCol="0" anchor="ctr"/>
          <a:lstStyle/>
          <a:p>
            <a:pPr indent="0" marL="0">
              <a:buNone/>
            </a:pPr>
            <a:r>
              <a:rPr lang="en-US" sz="1300" b="1" spc="300" kern="0" dirty="0">
                <a:solidFill>
                  <a:srgbClr val="B08D3A"/>
                </a:solidFill>
                <a:latin typeface="Calibri" pitchFamily="34" charset="0"/>
                <a:ea typeface="Calibri" pitchFamily="34" charset="-122"/>
                <a:cs typeface="Calibri" pitchFamily="34" charset="-120"/>
              </a:rPr>
              <a:t>ESSAY</a:t>
            </a:r>
            <a:endParaRPr lang="en-US" sz="1300" dirty="0"/>
          </a:p>
        </p:txBody>
      </p:sp>
      <p:sp>
        <p:nvSpPr>
          <p:cNvPr id="6" name="Text 4"/>
          <p:cNvSpPr/>
          <p:nvPr/>
        </p:nvSpPr>
        <p:spPr>
          <a:xfrm>
            <a:off x="521208" y="2066544"/>
            <a:ext cx="2194560" cy="1325880"/>
          </a:xfrm>
          <a:prstGeom prst="rect">
            <a:avLst/>
          </a:prstGeom>
          <a:noFill/>
          <a:ln/>
        </p:spPr>
        <p:txBody>
          <a:bodyPr wrap="square" lIns="0" tIns="0" rIns="0" bIns="0" rtlCol="0" anchor="ctr"/>
          <a:lstStyle/>
          <a:p>
            <a:pPr indent="0" marL="0">
              <a:buNone/>
            </a:pPr>
            <a:r>
              <a:rPr lang="en-US" sz="11000" b="1" dirty="0">
                <a:solidFill>
                  <a:srgbClr val="B08D3A"/>
                </a:solidFill>
                <a:latin typeface="Cambria" pitchFamily="34" charset="0"/>
                <a:ea typeface="Cambria" pitchFamily="34" charset="-122"/>
                <a:cs typeface="Cambria" pitchFamily="34" charset="-120"/>
              </a:rPr>
              <a:t>02</a:t>
            </a:r>
            <a:endParaRPr lang="en-US" sz="11000" dirty="0"/>
          </a:p>
        </p:txBody>
      </p:sp>
      <p:sp>
        <p:nvSpPr>
          <p:cNvPr id="7" name="Text 5"/>
          <p:cNvSpPr/>
          <p:nvPr/>
        </p:nvSpPr>
        <p:spPr>
          <a:xfrm>
            <a:off x="2926080" y="1371600"/>
            <a:ext cx="5669280" cy="274320"/>
          </a:xfrm>
          <a:prstGeom prst="rect">
            <a:avLst/>
          </a:prstGeom>
          <a:noFill/>
          <a:ln/>
        </p:spPr>
        <p:txBody>
          <a:bodyPr wrap="square" lIns="0" tIns="0" rIns="0" bIns="0" rtlCol="0" anchor="ctr"/>
          <a:lstStyle/>
          <a:p>
            <a:pPr indent="0" marL="0">
              <a:buNone/>
            </a:pPr>
            <a:r>
              <a:rPr lang="en-US" sz="1250" b="1" spc="300" kern="0" dirty="0">
                <a:solidFill>
                  <a:srgbClr val="B08D3A"/>
                </a:solidFill>
                <a:latin typeface="Calibri" pitchFamily="34" charset="0"/>
                <a:ea typeface="Calibri" pitchFamily="34" charset="-122"/>
                <a:cs typeface="Calibri" pitchFamily="34" charset="-120"/>
              </a:rPr>
              <a:t>WHAT YOUR DATA IS MADE OF</a:t>
            </a:r>
            <a:endParaRPr lang="en-US" sz="1250" dirty="0"/>
          </a:p>
        </p:txBody>
      </p:sp>
      <p:sp>
        <p:nvSpPr>
          <p:cNvPr id="8" name="Text 6"/>
          <p:cNvSpPr/>
          <p:nvPr/>
        </p:nvSpPr>
        <p:spPr>
          <a:xfrm>
            <a:off x="2926080" y="1691640"/>
            <a:ext cx="5669280" cy="960120"/>
          </a:xfrm>
          <a:prstGeom prst="rect">
            <a:avLst/>
          </a:prstGeom>
          <a:noFill/>
          <a:ln/>
          <a:effectLst>
            <a:outerShdw sx="100000" sy="100000" kx="0" ky="0" algn="bl" rotWithShape="0" blurRad="76200" dist="25400" dir="5400000">
              <a:srgbClr val="B9B097">
                <a:alpha val="40000"/>
              </a:srgbClr>
            </a:outerShdw>
          </a:effectLst>
        </p:spPr>
        <p:txBody>
          <a:bodyPr wrap="square" lIns="0" tIns="0" rIns="0" bIns="0" rtlCol="0" anchor="ctr"/>
          <a:lstStyle/>
          <a:p>
            <a:pPr indent="0" marL="0">
              <a:lnSpc>
                <a:spcPct val="98000"/>
              </a:lnSpc>
              <a:buNone/>
            </a:pPr>
            <a:r>
              <a:rPr lang="en-US" sz="3200" b="1" dirty="0">
                <a:solidFill>
                  <a:srgbClr val="1B2A4A"/>
                </a:solidFill>
                <a:latin typeface="Cambria" pitchFamily="34" charset="0"/>
                <a:ea typeface="Cambria" pitchFamily="34" charset="-122"/>
                <a:cs typeface="Cambria" pitchFamily="34" charset="-120"/>
              </a:rPr>
              <a:t>The Shape of Your Digital Shadow</a:t>
            </a:r>
            <a:endParaRPr lang="en-US" sz="3200" dirty="0"/>
          </a:p>
        </p:txBody>
      </p:sp>
      <p:sp>
        <p:nvSpPr>
          <p:cNvPr id="9" name="Text 7"/>
          <p:cNvSpPr/>
          <p:nvPr/>
        </p:nvSpPr>
        <p:spPr>
          <a:xfrm>
            <a:off x="2926080" y="2743200"/>
            <a:ext cx="5669280" cy="502920"/>
          </a:xfrm>
          <a:prstGeom prst="rect">
            <a:avLst/>
          </a:prstGeom>
          <a:noFill/>
          <a:ln/>
        </p:spPr>
        <p:txBody>
          <a:bodyPr wrap="square" lIns="0" tIns="0" rIns="0" bIns="0" rtlCol="0" anchor="ctr"/>
          <a:lstStyle/>
          <a:p>
            <a:pPr indent="0" marL="0">
              <a:lnSpc>
                <a:spcPct val="100000"/>
              </a:lnSpc>
              <a:buNone/>
            </a:pPr>
            <a:r>
              <a:rPr lang="en-US" sz="1900" i="1" dirty="0">
                <a:solidFill>
                  <a:srgbClr val="B08D3A"/>
                </a:solidFill>
                <a:latin typeface="Cambria" pitchFamily="34" charset="0"/>
                <a:ea typeface="Cambria" pitchFamily="34" charset="-122"/>
                <a:cs typeface="Cambria" pitchFamily="34" charset="-120"/>
              </a:rPr>
              <a:t>Your shadow has a shape, and the shape has rights.</a:t>
            </a:r>
            <a:endParaRPr lang="en-US" sz="1900" dirty="0"/>
          </a:p>
        </p:txBody>
      </p:sp>
      <p:sp>
        <p:nvSpPr>
          <p:cNvPr id="10" name="Text 8"/>
          <p:cNvSpPr/>
          <p:nvPr/>
        </p:nvSpPr>
        <p:spPr>
          <a:xfrm>
            <a:off x="2926080" y="3346704"/>
            <a:ext cx="5669280" cy="1371600"/>
          </a:xfrm>
          <a:prstGeom prst="rect">
            <a:avLst/>
          </a:prstGeom>
          <a:noFill/>
          <a:ln/>
        </p:spPr>
        <p:txBody>
          <a:bodyPr wrap="square" lIns="0" tIns="0" rIns="0" bIns="0" rtlCol="0" anchor="ctr"/>
          <a:lstStyle/>
          <a:p>
            <a:pPr indent="0" marL="0">
              <a:lnSpc>
                <a:spcPct val="116000"/>
              </a:lnSpc>
              <a:buNone/>
            </a:pPr>
            <a:r>
              <a:rPr lang="en-US" sz="1400" dirty="0">
                <a:solidFill>
                  <a:srgbClr val="3B4663"/>
                </a:solidFill>
                <a:latin typeface="Calibri" pitchFamily="34" charset="0"/>
                <a:ea typeface="Calibri" pitchFamily="34" charset="-122"/>
                <a:cs typeface="Calibri" pitchFamily="34" charset="-120"/>
              </a:rPr>
              <a:t>Your shadow comes in regions: what you make, what you do, what you are, and what is inferred about you. Over each, a free person should hold the rights to see, correct, hold, and profit.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A4A"/>
        </a:solidFill>
      </p:bgPr>
    </p:bg>
    <p:spTree>
      <p:nvGrpSpPr>
        <p:cNvPr id="1" name=""/>
        <p:cNvGrpSpPr/>
        <p:nvPr/>
      </p:nvGrpSpPr>
      <p:grpSpPr>
        <a:xfrm>
          <a:off x="0" y="0"/>
          <a:ext cx="0" cy="0"/>
          <a:chOff x="0" y="0"/>
          <a:chExt cx="0" cy="0"/>
        </a:xfrm>
      </p:grpSpPr>
      <p:sp>
        <p:nvSpPr>
          <p:cNvPr id="2" name="Shape 0"/>
          <p:cNvSpPr/>
          <p:nvPr/>
        </p:nvSpPr>
        <p:spPr>
          <a:xfrm rot="2700000">
            <a:off x="566928" y="365760"/>
            <a:ext cx="109728" cy="109728"/>
          </a:xfrm>
          <a:prstGeom prst="rect">
            <a:avLst/>
          </a:prstGeom>
          <a:solidFill>
            <a:srgbClr val="B08D3A"/>
          </a:solidFill>
          <a:ln/>
        </p:spPr>
      </p:sp>
      <p:sp>
        <p:nvSpPr>
          <p:cNvPr id="3" name="Text 1"/>
          <p:cNvSpPr/>
          <p:nvPr/>
        </p:nvSpPr>
        <p:spPr>
          <a:xfrm>
            <a:off x="786384" y="274320"/>
            <a:ext cx="3657600" cy="292608"/>
          </a:xfrm>
          <a:prstGeom prst="rect">
            <a:avLst/>
          </a:prstGeom>
          <a:noFill/>
          <a:ln/>
        </p:spPr>
        <p:txBody>
          <a:bodyPr wrap="square" lIns="0" tIns="0" rIns="0" bIns="0" rtlCol="0" anchor="ctr"/>
          <a:lstStyle/>
          <a:p>
            <a:pPr indent="0" marL="0">
              <a:buNone/>
            </a:pPr>
            <a:r>
              <a:rPr lang="en-US" sz="1150" b="1" spc="300" kern="0" dirty="0">
                <a:solidFill>
                  <a:srgbClr val="F1ECDD"/>
                </a:solidFill>
                <a:latin typeface="Calibri" pitchFamily="34" charset="0"/>
                <a:ea typeface="Calibri" pitchFamily="34" charset="-122"/>
                <a:cs typeface="Calibri" pitchFamily="34" charset="-120"/>
              </a:rPr>
              <a:t>WE THE USERS</a:t>
            </a:r>
            <a:endParaRPr lang="en-US" sz="1150" dirty="0"/>
          </a:p>
        </p:txBody>
      </p:sp>
      <p:sp>
        <p:nvSpPr>
          <p:cNvPr id="4" name="Text 2"/>
          <p:cNvSpPr/>
          <p:nvPr/>
        </p:nvSpPr>
        <p:spPr>
          <a:xfrm>
            <a:off x="8138160" y="4668012"/>
            <a:ext cx="457200" cy="274320"/>
          </a:xfrm>
          <a:prstGeom prst="rect">
            <a:avLst/>
          </a:prstGeom>
          <a:noFill/>
          <a:ln/>
        </p:spPr>
        <p:txBody>
          <a:bodyPr wrap="square" lIns="0" tIns="0" rIns="0" bIns="0" rtlCol="0" anchor="ctr"/>
          <a:lstStyle/>
          <a:p>
            <a:pPr algn="r" indent="0" marL="0">
              <a:buNone/>
            </a:pPr>
            <a:r>
              <a:rPr lang="en-US" sz="1000" dirty="0">
                <a:solidFill>
                  <a:srgbClr val="9AA6BC"/>
                </a:solidFill>
                <a:latin typeface="Calibri" pitchFamily="34" charset="0"/>
                <a:ea typeface="Calibri" pitchFamily="34" charset="-122"/>
                <a:cs typeface="Calibri" pitchFamily="34" charset="-120"/>
              </a:rPr>
              <a:t>15</a:t>
            </a:r>
            <a:endParaRPr lang="en-US" sz="1000" dirty="0"/>
          </a:p>
        </p:txBody>
      </p:sp>
      <p:sp>
        <p:nvSpPr>
          <p:cNvPr id="5" name="Text 3"/>
          <p:cNvSpPr/>
          <p:nvPr/>
        </p:nvSpPr>
        <p:spPr>
          <a:xfrm>
            <a:off x="566928" y="1828800"/>
            <a:ext cx="2103120" cy="274320"/>
          </a:xfrm>
          <a:prstGeom prst="rect">
            <a:avLst/>
          </a:prstGeom>
          <a:noFill/>
          <a:ln/>
        </p:spPr>
        <p:txBody>
          <a:bodyPr wrap="square" lIns="0" tIns="0" rIns="0" bIns="0" rtlCol="0" anchor="ctr"/>
          <a:lstStyle/>
          <a:p>
            <a:pPr indent="0" marL="0">
              <a:buNone/>
            </a:pPr>
            <a:r>
              <a:rPr lang="en-US" sz="1300" b="1" spc="300" kern="0" dirty="0">
                <a:solidFill>
                  <a:srgbClr val="C9A24B"/>
                </a:solidFill>
                <a:latin typeface="Calibri" pitchFamily="34" charset="0"/>
                <a:ea typeface="Calibri" pitchFamily="34" charset="-122"/>
                <a:cs typeface="Calibri" pitchFamily="34" charset="-120"/>
              </a:rPr>
              <a:t>ESSAY</a:t>
            </a:r>
            <a:endParaRPr lang="en-US" sz="1300" dirty="0"/>
          </a:p>
        </p:txBody>
      </p:sp>
      <p:sp>
        <p:nvSpPr>
          <p:cNvPr id="6" name="Text 4"/>
          <p:cNvSpPr/>
          <p:nvPr/>
        </p:nvSpPr>
        <p:spPr>
          <a:xfrm>
            <a:off x="521208" y="2066544"/>
            <a:ext cx="2194560" cy="1325880"/>
          </a:xfrm>
          <a:prstGeom prst="rect">
            <a:avLst/>
          </a:prstGeom>
          <a:noFill/>
          <a:ln/>
          <a:effectLst>
            <a:outerShdw sx="100000" sy="100000" kx="0" ky="0" algn="bl" rotWithShape="0" blurRad="114300" dist="50800" dir="5400000">
              <a:srgbClr val="000000">
                <a:alpha val="30000"/>
              </a:srgbClr>
            </a:outerShdw>
          </a:effectLst>
        </p:spPr>
        <p:txBody>
          <a:bodyPr wrap="square" lIns="0" tIns="0" rIns="0" bIns="0" rtlCol="0" anchor="ctr"/>
          <a:lstStyle/>
          <a:p>
            <a:pPr indent="0" marL="0">
              <a:buNone/>
            </a:pPr>
            <a:r>
              <a:rPr lang="en-US" sz="11000" b="1" dirty="0">
                <a:solidFill>
                  <a:srgbClr val="C9A24B"/>
                </a:solidFill>
                <a:latin typeface="Cambria" pitchFamily="34" charset="0"/>
                <a:ea typeface="Cambria" pitchFamily="34" charset="-122"/>
                <a:cs typeface="Cambria" pitchFamily="34" charset="-120"/>
              </a:rPr>
              <a:t>03</a:t>
            </a:r>
            <a:endParaRPr lang="en-US" sz="11000" dirty="0"/>
          </a:p>
        </p:txBody>
      </p:sp>
      <p:sp>
        <p:nvSpPr>
          <p:cNvPr id="7" name="Text 5"/>
          <p:cNvSpPr/>
          <p:nvPr/>
        </p:nvSpPr>
        <p:spPr>
          <a:xfrm>
            <a:off x="2926080" y="1371600"/>
            <a:ext cx="5669280" cy="274320"/>
          </a:xfrm>
          <a:prstGeom prst="rect">
            <a:avLst/>
          </a:prstGeom>
          <a:noFill/>
          <a:ln/>
        </p:spPr>
        <p:txBody>
          <a:bodyPr wrap="square" lIns="0" tIns="0" rIns="0" bIns="0" rtlCol="0" anchor="ctr"/>
          <a:lstStyle/>
          <a:p>
            <a:pPr indent="0" marL="0">
              <a:buNone/>
            </a:pPr>
            <a:r>
              <a:rPr lang="en-US" sz="1250" b="1" spc="300" kern="0" dirty="0">
                <a:solidFill>
                  <a:srgbClr val="C9A24B"/>
                </a:solidFill>
                <a:latin typeface="Calibri" pitchFamily="34" charset="0"/>
                <a:ea typeface="Calibri" pitchFamily="34" charset="-122"/>
                <a:cs typeface="Calibri" pitchFamily="34" charset="-120"/>
              </a:rPr>
              <a:t>HOW POWER STAYS DIVIDED</a:t>
            </a:r>
            <a:endParaRPr lang="en-US" sz="1250" dirty="0"/>
          </a:p>
        </p:txBody>
      </p:sp>
      <p:sp>
        <p:nvSpPr>
          <p:cNvPr id="8" name="Text 6"/>
          <p:cNvSpPr/>
          <p:nvPr/>
        </p:nvSpPr>
        <p:spPr>
          <a:xfrm>
            <a:off x="2926080" y="1691640"/>
            <a:ext cx="5669280" cy="960120"/>
          </a:xfrm>
          <a:prstGeom prst="rect">
            <a:avLst/>
          </a:prstGeom>
          <a:noFill/>
          <a:ln/>
          <a:effectLst>
            <a:outerShdw sx="100000" sy="100000" kx="0" ky="0" algn="bl" rotWithShape="0" blurRad="114300" dist="50800" dir="5400000">
              <a:srgbClr val="000000">
                <a:alpha val="28000"/>
              </a:srgbClr>
            </a:outerShdw>
          </a:effectLst>
        </p:spPr>
        <p:txBody>
          <a:bodyPr wrap="square" lIns="0" tIns="0" rIns="0" bIns="0" rtlCol="0" anchor="ctr"/>
          <a:lstStyle/>
          <a:p>
            <a:pPr indent="0" marL="0">
              <a:lnSpc>
                <a:spcPct val="98000"/>
              </a:lnSpc>
              <a:buNone/>
            </a:pPr>
            <a:r>
              <a:rPr lang="en-US" sz="3200" b="1" dirty="0">
                <a:solidFill>
                  <a:srgbClr val="F1ECDD"/>
                </a:solidFill>
                <a:latin typeface="Cambria" pitchFamily="34" charset="0"/>
                <a:ea typeface="Cambria" pitchFamily="34" charset="-122"/>
                <a:cs typeface="Cambria" pitchFamily="34" charset="-120"/>
              </a:rPr>
              <a:t>Ambition Against Ambition</a:t>
            </a:r>
            <a:endParaRPr lang="en-US" sz="3200" dirty="0"/>
          </a:p>
        </p:txBody>
      </p:sp>
      <p:sp>
        <p:nvSpPr>
          <p:cNvPr id="9" name="Text 7"/>
          <p:cNvSpPr/>
          <p:nvPr/>
        </p:nvSpPr>
        <p:spPr>
          <a:xfrm>
            <a:off x="2926080" y="2743200"/>
            <a:ext cx="5669280" cy="502920"/>
          </a:xfrm>
          <a:prstGeom prst="rect">
            <a:avLst/>
          </a:prstGeom>
          <a:noFill/>
          <a:ln/>
        </p:spPr>
        <p:txBody>
          <a:bodyPr wrap="square" lIns="0" tIns="0" rIns="0" bIns="0" rtlCol="0" anchor="ctr"/>
          <a:lstStyle/>
          <a:p>
            <a:pPr indent="0" marL="0">
              <a:lnSpc>
                <a:spcPct val="100000"/>
              </a:lnSpc>
              <a:buNone/>
            </a:pPr>
            <a:r>
              <a:rPr lang="en-US" sz="1900" i="1" dirty="0">
                <a:solidFill>
                  <a:srgbClr val="C9A24B"/>
                </a:solidFill>
                <a:latin typeface="Cambria" pitchFamily="34" charset="0"/>
                <a:ea typeface="Cambria" pitchFamily="34" charset="-122"/>
                <a:cs typeface="Cambria" pitchFamily="34" charset="-120"/>
              </a:rPr>
              <a:t>No part of the new internet should rule the rest.</a:t>
            </a:r>
            <a:endParaRPr lang="en-US" sz="1900" dirty="0"/>
          </a:p>
        </p:txBody>
      </p:sp>
      <p:sp>
        <p:nvSpPr>
          <p:cNvPr id="10" name="Text 8"/>
          <p:cNvSpPr/>
          <p:nvPr/>
        </p:nvSpPr>
        <p:spPr>
          <a:xfrm>
            <a:off x="2926080" y="3346704"/>
            <a:ext cx="5669280" cy="1371600"/>
          </a:xfrm>
          <a:prstGeom prst="rect">
            <a:avLst/>
          </a:prstGeom>
          <a:noFill/>
          <a:ln/>
        </p:spPr>
        <p:txBody>
          <a:bodyPr wrap="square" lIns="0" tIns="0" rIns="0" bIns="0" rtlCol="0" anchor="ctr"/>
          <a:lstStyle/>
          <a:p>
            <a:pPr indent="0" marL="0">
              <a:lnSpc>
                <a:spcPct val="116000"/>
              </a:lnSpc>
              <a:buNone/>
            </a:pPr>
            <a:r>
              <a:rPr lang="en-US" sz="1400" dirty="0">
                <a:solidFill>
                  <a:srgbClr val="CFD5E0"/>
                </a:solidFill>
                <a:latin typeface="Calibri" pitchFamily="34" charset="0"/>
                <a:ea typeface="Calibri" pitchFamily="34" charset="-122"/>
                <a:cs typeface="Calibri" pitchFamily="34" charset="-120"/>
              </a:rPr>
              <a:t>The old internet fused control, money, and authority in a few hands. The new one splits those powers, holds them in check, and keeps the whole thing forkable, so no part can ever dominate.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1EA"/>
        </a:solidFill>
      </p:bgPr>
    </p:bg>
    <p:spTree>
      <p:nvGrpSpPr>
        <p:cNvPr id="1" name=""/>
        <p:cNvGrpSpPr/>
        <p:nvPr/>
      </p:nvGrpSpPr>
      <p:grpSpPr>
        <a:xfrm>
          <a:off x="0" y="0"/>
          <a:ext cx="0" cy="0"/>
          <a:chOff x="0" y="0"/>
          <a:chExt cx="0" cy="0"/>
        </a:xfrm>
      </p:grpSpPr>
      <p:sp>
        <p:nvSpPr>
          <p:cNvPr id="2" name="Shape 0"/>
          <p:cNvSpPr/>
          <p:nvPr/>
        </p:nvSpPr>
        <p:spPr>
          <a:xfrm rot="2700000">
            <a:off x="566928" y="365760"/>
            <a:ext cx="109728" cy="109728"/>
          </a:xfrm>
          <a:prstGeom prst="rect">
            <a:avLst/>
          </a:prstGeom>
          <a:solidFill>
            <a:srgbClr val="B08D3A"/>
          </a:solidFill>
          <a:ln/>
        </p:spPr>
      </p:sp>
      <p:sp>
        <p:nvSpPr>
          <p:cNvPr id="3" name="Text 1"/>
          <p:cNvSpPr/>
          <p:nvPr/>
        </p:nvSpPr>
        <p:spPr>
          <a:xfrm>
            <a:off x="786384" y="274320"/>
            <a:ext cx="3657600" cy="292608"/>
          </a:xfrm>
          <a:prstGeom prst="rect">
            <a:avLst/>
          </a:prstGeom>
          <a:noFill/>
          <a:ln/>
        </p:spPr>
        <p:txBody>
          <a:bodyPr wrap="square" lIns="0" tIns="0" rIns="0" bIns="0" rtlCol="0" anchor="ctr"/>
          <a:lstStyle/>
          <a:p>
            <a:pPr indent="0" marL="0">
              <a:buNone/>
            </a:pPr>
            <a:r>
              <a:rPr lang="en-US" sz="1150" b="1" spc="300" kern="0" dirty="0">
                <a:solidFill>
                  <a:srgbClr val="1B2A4A"/>
                </a:solidFill>
                <a:latin typeface="Calibri" pitchFamily="34" charset="0"/>
                <a:ea typeface="Calibri" pitchFamily="34" charset="-122"/>
                <a:cs typeface="Calibri" pitchFamily="34" charset="-120"/>
              </a:rPr>
              <a:t>WE THE USERS</a:t>
            </a:r>
            <a:endParaRPr lang="en-US" sz="1150" dirty="0"/>
          </a:p>
        </p:txBody>
      </p:sp>
      <p:sp>
        <p:nvSpPr>
          <p:cNvPr id="4" name="Text 2"/>
          <p:cNvSpPr/>
          <p:nvPr/>
        </p:nvSpPr>
        <p:spPr>
          <a:xfrm>
            <a:off x="8138160" y="4668012"/>
            <a:ext cx="457200" cy="274320"/>
          </a:xfrm>
          <a:prstGeom prst="rect">
            <a:avLst/>
          </a:prstGeom>
          <a:noFill/>
          <a:ln/>
        </p:spPr>
        <p:txBody>
          <a:bodyPr wrap="square" lIns="0" tIns="0" rIns="0" bIns="0" rtlCol="0" anchor="ctr"/>
          <a:lstStyle/>
          <a:p>
            <a:pPr algn="r" indent="0" marL="0">
              <a:buNone/>
            </a:pPr>
            <a:r>
              <a:rPr lang="en-US" sz="1000" dirty="0">
                <a:solidFill>
                  <a:srgbClr val="76716A"/>
                </a:solidFill>
                <a:latin typeface="Calibri" pitchFamily="34" charset="0"/>
                <a:ea typeface="Calibri" pitchFamily="34" charset="-122"/>
                <a:cs typeface="Calibri" pitchFamily="34" charset="-120"/>
              </a:rPr>
              <a:t>16</a:t>
            </a:r>
            <a:endParaRPr lang="en-US" sz="1000" dirty="0"/>
          </a:p>
        </p:txBody>
      </p:sp>
      <p:sp>
        <p:nvSpPr>
          <p:cNvPr id="5" name="Text 3"/>
          <p:cNvSpPr/>
          <p:nvPr/>
        </p:nvSpPr>
        <p:spPr>
          <a:xfrm>
            <a:off x="566928" y="1828800"/>
            <a:ext cx="2103120" cy="274320"/>
          </a:xfrm>
          <a:prstGeom prst="rect">
            <a:avLst/>
          </a:prstGeom>
          <a:noFill/>
          <a:ln/>
        </p:spPr>
        <p:txBody>
          <a:bodyPr wrap="square" lIns="0" tIns="0" rIns="0" bIns="0" rtlCol="0" anchor="ctr"/>
          <a:lstStyle/>
          <a:p>
            <a:pPr indent="0" marL="0">
              <a:buNone/>
            </a:pPr>
            <a:r>
              <a:rPr lang="en-US" sz="1300" b="1" spc="300" kern="0" dirty="0">
                <a:solidFill>
                  <a:srgbClr val="B08D3A"/>
                </a:solidFill>
                <a:latin typeface="Calibri" pitchFamily="34" charset="0"/>
                <a:ea typeface="Calibri" pitchFamily="34" charset="-122"/>
                <a:cs typeface="Calibri" pitchFamily="34" charset="-120"/>
              </a:rPr>
              <a:t>ESSAY</a:t>
            </a:r>
            <a:endParaRPr lang="en-US" sz="1300" dirty="0"/>
          </a:p>
        </p:txBody>
      </p:sp>
      <p:sp>
        <p:nvSpPr>
          <p:cNvPr id="6" name="Text 4"/>
          <p:cNvSpPr/>
          <p:nvPr/>
        </p:nvSpPr>
        <p:spPr>
          <a:xfrm>
            <a:off x="521208" y="2066544"/>
            <a:ext cx="2194560" cy="1325880"/>
          </a:xfrm>
          <a:prstGeom prst="rect">
            <a:avLst/>
          </a:prstGeom>
          <a:noFill/>
          <a:ln/>
        </p:spPr>
        <p:txBody>
          <a:bodyPr wrap="square" lIns="0" tIns="0" rIns="0" bIns="0" rtlCol="0" anchor="ctr"/>
          <a:lstStyle/>
          <a:p>
            <a:pPr indent="0" marL="0">
              <a:buNone/>
            </a:pPr>
            <a:r>
              <a:rPr lang="en-US" sz="11000" b="1" dirty="0">
                <a:solidFill>
                  <a:srgbClr val="B08D3A"/>
                </a:solidFill>
                <a:latin typeface="Cambria" pitchFamily="34" charset="0"/>
                <a:ea typeface="Cambria" pitchFamily="34" charset="-122"/>
                <a:cs typeface="Cambria" pitchFamily="34" charset="-120"/>
              </a:rPr>
              <a:t>04</a:t>
            </a:r>
            <a:endParaRPr lang="en-US" sz="11000" dirty="0"/>
          </a:p>
        </p:txBody>
      </p:sp>
      <p:sp>
        <p:nvSpPr>
          <p:cNvPr id="7" name="Text 5"/>
          <p:cNvSpPr/>
          <p:nvPr/>
        </p:nvSpPr>
        <p:spPr>
          <a:xfrm>
            <a:off x="2926080" y="1371600"/>
            <a:ext cx="5669280" cy="274320"/>
          </a:xfrm>
          <a:prstGeom prst="rect">
            <a:avLst/>
          </a:prstGeom>
          <a:noFill/>
          <a:ln/>
        </p:spPr>
        <p:txBody>
          <a:bodyPr wrap="square" lIns="0" tIns="0" rIns="0" bIns="0" rtlCol="0" anchor="ctr"/>
          <a:lstStyle/>
          <a:p>
            <a:pPr indent="0" marL="0">
              <a:buNone/>
            </a:pPr>
            <a:r>
              <a:rPr lang="en-US" sz="1250" b="1" spc="300" kern="0" dirty="0">
                <a:solidFill>
                  <a:srgbClr val="B08D3A"/>
                </a:solidFill>
                <a:latin typeface="Calibri" pitchFamily="34" charset="0"/>
                <a:ea typeface="Calibri" pitchFamily="34" charset="-122"/>
                <a:cs typeface="Calibri" pitchFamily="34" charset="-120"/>
              </a:rPr>
              <a:t>THE ECONOMICS</a:t>
            </a:r>
            <a:endParaRPr lang="en-US" sz="1250" dirty="0"/>
          </a:p>
        </p:txBody>
      </p:sp>
      <p:sp>
        <p:nvSpPr>
          <p:cNvPr id="8" name="Text 6"/>
          <p:cNvSpPr/>
          <p:nvPr/>
        </p:nvSpPr>
        <p:spPr>
          <a:xfrm>
            <a:off x="2926080" y="1691640"/>
            <a:ext cx="5669280" cy="960120"/>
          </a:xfrm>
          <a:prstGeom prst="rect">
            <a:avLst/>
          </a:prstGeom>
          <a:noFill/>
          <a:ln/>
          <a:effectLst>
            <a:outerShdw sx="100000" sy="100000" kx="0" ky="0" algn="bl" rotWithShape="0" blurRad="76200" dist="25400" dir="5400000">
              <a:srgbClr val="B9B097">
                <a:alpha val="40000"/>
              </a:srgbClr>
            </a:outerShdw>
          </a:effectLst>
        </p:spPr>
        <p:txBody>
          <a:bodyPr wrap="square" lIns="0" tIns="0" rIns="0" bIns="0" rtlCol="0" anchor="ctr"/>
          <a:lstStyle/>
          <a:p>
            <a:pPr indent="0" marL="0">
              <a:lnSpc>
                <a:spcPct val="98000"/>
              </a:lnSpc>
              <a:buNone/>
            </a:pPr>
            <a:r>
              <a:rPr lang="en-US" sz="3200" b="1" dirty="0">
                <a:solidFill>
                  <a:srgbClr val="1B2A4A"/>
                </a:solidFill>
                <a:latin typeface="Cambria" pitchFamily="34" charset="0"/>
                <a:ea typeface="Cambria" pitchFamily="34" charset="-122"/>
                <a:cs typeface="Cambria" pitchFamily="34" charset="-120"/>
              </a:rPr>
              <a:t>The Longer Race</a:t>
            </a:r>
            <a:endParaRPr lang="en-US" sz="3200" dirty="0"/>
          </a:p>
        </p:txBody>
      </p:sp>
      <p:sp>
        <p:nvSpPr>
          <p:cNvPr id="9" name="Text 7"/>
          <p:cNvSpPr/>
          <p:nvPr/>
        </p:nvSpPr>
        <p:spPr>
          <a:xfrm>
            <a:off x="2926080" y="2743200"/>
            <a:ext cx="5669280" cy="502920"/>
          </a:xfrm>
          <a:prstGeom prst="rect">
            <a:avLst/>
          </a:prstGeom>
          <a:noFill/>
          <a:ln/>
        </p:spPr>
        <p:txBody>
          <a:bodyPr wrap="square" lIns="0" tIns="0" rIns="0" bIns="0" rtlCol="0" anchor="ctr"/>
          <a:lstStyle/>
          <a:p>
            <a:pPr indent="0" marL="0">
              <a:lnSpc>
                <a:spcPct val="100000"/>
              </a:lnSpc>
              <a:buNone/>
            </a:pPr>
            <a:r>
              <a:rPr lang="en-US" sz="1900" i="1" dirty="0">
                <a:solidFill>
                  <a:srgbClr val="B08D3A"/>
                </a:solidFill>
                <a:latin typeface="Cambria" pitchFamily="34" charset="0"/>
                <a:ea typeface="Cambria" pitchFamily="34" charset="-122"/>
                <a:cs typeface="Cambria" pitchFamily="34" charset="-120"/>
              </a:rPr>
              <a:t>Working together can out-build racing apart.</a:t>
            </a:r>
            <a:endParaRPr lang="en-US" sz="1900" dirty="0"/>
          </a:p>
        </p:txBody>
      </p:sp>
      <p:sp>
        <p:nvSpPr>
          <p:cNvPr id="10" name="Text 8"/>
          <p:cNvSpPr/>
          <p:nvPr/>
        </p:nvSpPr>
        <p:spPr>
          <a:xfrm>
            <a:off x="2926080" y="3346704"/>
            <a:ext cx="5669280" cy="1371600"/>
          </a:xfrm>
          <a:prstGeom prst="rect">
            <a:avLst/>
          </a:prstGeom>
          <a:noFill/>
          <a:ln/>
        </p:spPr>
        <p:txBody>
          <a:bodyPr wrap="square" lIns="0" tIns="0" rIns="0" bIns="0" rtlCol="0" anchor="ctr"/>
          <a:lstStyle/>
          <a:p>
            <a:pPr indent="0" marL="0">
              <a:lnSpc>
                <a:spcPct val="116000"/>
              </a:lnSpc>
              <a:buNone/>
            </a:pPr>
            <a:r>
              <a:rPr lang="en-US" sz="1400" dirty="0">
                <a:solidFill>
                  <a:srgbClr val="3B4663"/>
                </a:solidFill>
                <a:latin typeface="Calibri" pitchFamily="34" charset="0"/>
                <a:ea typeface="Calibri" pitchFamily="34" charset="-122"/>
                <a:cs typeface="Calibri" pitchFamily="34" charset="-120"/>
              </a:rPr>
              <a:t>A collaborative internet can create at least as much value as a cut-throat one, and share it far more evenly. Cooperation is not charity. Over a long enough race, it wins.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A4A"/>
        </a:solidFill>
      </p:bgPr>
    </p:bg>
    <p:spTree>
      <p:nvGrpSpPr>
        <p:cNvPr id="1" name=""/>
        <p:cNvGrpSpPr/>
        <p:nvPr/>
      </p:nvGrpSpPr>
      <p:grpSpPr>
        <a:xfrm>
          <a:off x="0" y="0"/>
          <a:ext cx="0" cy="0"/>
          <a:chOff x="0" y="0"/>
          <a:chExt cx="0" cy="0"/>
        </a:xfrm>
      </p:grpSpPr>
      <p:sp>
        <p:nvSpPr>
          <p:cNvPr id="2" name="Shape 0"/>
          <p:cNvSpPr/>
          <p:nvPr/>
        </p:nvSpPr>
        <p:spPr>
          <a:xfrm rot="2700000">
            <a:off x="566928" y="365760"/>
            <a:ext cx="109728" cy="109728"/>
          </a:xfrm>
          <a:prstGeom prst="rect">
            <a:avLst/>
          </a:prstGeom>
          <a:solidFill>
            <a:srgbClr val="B08D3A"/>
          </a:solidFill>
          <a:ln/>
        </p:spPr>
      </p:sp>
      <p:sp>
        <p:nvSpPr>
          <p:cNvPr id="3" name="Text 1"/>
          <p:cNvSpPr/>
          <p:nvPr/>
        </p:nvSpPr>
        <p:spPr>
          <a:xfrm>
            <a:off x="786384" y="274320"/>
            <a:ext cx="3657600" cy="292608"/>
          </a:xfrm>
          <a:prstGeom prst="rect">
            <a:avLst/>
          </a:prstGeom>
          <a:noFill/>
          <a:ln/>
        </p:spPr>
        <p:txBody>
          <a:bodyPr wrap="square" lIns="0" tIns="0" rIns="0" bIns="0" rtlCol="0" anchor="ctr"/>
          <a:lstStyle/>
          <a:p>
            <a:pPr indent="0" marL="0">
              <a:buNone/>
            </a:pPr>
            <a:r>
              <a:rPr lang="en-US" sz="1150" b="1" spc="300" kern="0" dirty="0">
                <a:solidFill>
                  <a:srgbClr val="F1ECDD"/>
                </a:solidFill>
                <a:latin typeface="Calibri" pitchFamily="34" charset="0"/>
                <a:ea typeface="Calibri" pitchFamily="34" charset="-122"/>
                <a:cs typeface="Calibri" pitchFamily="34" charset="-120"/>
              </a:rPr>
              <a:t>WE THE USERS</a:t>
            </a:r>
            <a:endParaRPr lang="en-US" sz="1150" dirty="0"/>
          </a:p>
        </p:txBody>
      </p:sp>
      <p:sp>
        <p:nvSpPr>
          <p:cNvPr id="4" name="Text 2"/>
          <p:cNvSpPr/>
          <p:nvPr/>
        </p:nvSpPr>
        <p:spPr>
          <a:xfrm>
            <a:off x="8138160" y="4668012"/>
            <a:ext cx="457200" cy="274320"/>
          </a:xfrm>
          <a:prstGeom prst="rect">
            <a:avLst/>
          </a:prstGeom>
          <a:noFill/>
          <a:ln/>
        </p:spPr>
        <p:txBody>
          <a:bodyPr wrap="square" lIns="0" tIns="0" rIns="0" bIns="0" rtlCol="0" anchor="ctr"/>
          <a:lstStyle/>
          <a:p>
            <a:pPr algn="r" indent="0" marL="0">
              <a:buNone/>
            </a:pPr>
            <a:r>
              <a:rPr lang="en-US" sz="1000" dirty="0">
                <a:solidFill>
                  <a:srgbClr val="9AA6BC"/>
                </a:solidFill>
                <a:latin typeface="Calibri" pitchFamily="34" charset="0"/>
                <a:ea typeface="Calibri" pitchFamily="34" charset="-122"/>
                <a:cs typeface="Calibri" pitchFamily="34" charset="-120"/>
              </a:rPr>
              <a:t>17</a:t>
            </a:r>
            <a:endParaRPr lang="en-US" sz="1000" dirty="0"/>
          </a:p>
        </p:txBody>
      </p:sp>
      <p:sp>
        <p:nvSpPr>
          <p:cNvPr id="5" name="Text 3"/>
          <p:cNvSpPr/>
          <p:nvPr/>
        </p:nvSpPr>
        <p:spPr>
          <a:xfrm>
            <a:off x="566928" y="1828800"/>
            <a:ext cx="2103120" cy="274320"/>
          </a:xfrm>
          <a:prstGeom prst="rect">
            <a:avLst/>
          </a:prstGeom>
          <a:noFill/>
          <a:ln/>
        </p:spPr>
        <p:txBody>
          <a:bodyPr wrap="square" lIns="0" tIns="0" rIns="0" bIns="0" rtlCol="0" anchor="ctr"/>
          <a:lstStyle/>
          <a:p>
            <a:pPr indent="0" marL="0">
              <a:buNone/>
            </a:pPr>
            <a:r>
              <a:rPr lang="en-US" sz="1300" b="1" spc="300" kern="0" dirty="0">
                <a:solidFill>
                  <a:srgbClr val="C9A24B"/>
                </a:solidFill>
                <a:latin typeface="Calibri" pitchFamily="34" charset="0"/>
                <a:ea typeface="Calibri" pitchFamily="34" charset="-122"/>
                <a:cs typeface="Calibri" pitchFamily="34" charset="-120"/>
              </a:rPr>
              <a:t>ESSAY</a:t>
            </a:r>
            <a:endParaRPr lang="en-US" sz="1300" dirty="0"/>
          </a:p>
        </p:txBody>
      </p:sp>
      <p:sp>
        <p:nvSpPr>
          <p:cNvPr id="6" name="Text 4"/>
          <p:cNvSpPr/>
          <p:nvPr/>
        </p:nvSpPr>
        <p:spPr>
          <a:xfrm>
            <a:off x="521208" y="2066544"/>
            <a:ext cx="2194560" cy="1325880"/>
          </a:xfrm>
          <a:prstGeom prst="rect">
            <a:avLst/>
          </a:prstGeom>
          <a:noFill/>
          <a:ln/>
          <a:effectLst>
            <a:outerShdw sx="100000" sy="100000" kx="0" ky="0" algn="bl" rotWithShape="0" blurRad="114300" dist="50800" dir="5400000">
              <a:srgbClr val="000000">
                <a:alpha val="30000"/>
              </a:srgbClr>
            </a:outerShdw>
          </a:effectLst>
        </p:spPr>
        <p:txBody>
          <a:bodyPr wrap="square" lIns="0" tIns="0" rIns="0" bIns="0" rtlCol="0" anchor="ctr"/>
          <a:lstStyle/>
          <a:p>
            <a:pPr indent="0" marL="0">
              <a:buNone/>
            </a:pPr>
            <a:r>
              <a:rPr lang="en-US" sz="11000" b="1" dirty="0">
                <a:solidFill>
                  <a:srgbClr val="C9A24B"/>
                </a:solidFill>
                <a:latin typeface="Cambria" pitchFamily="34" charset="0"/>
                <a:ea typeface="Cambria" pitchFamily="34" charset="-122"/>
                <a:cs typeface="Cambria" pitchFamily="34" charset="-120"/>
              </a:rPr>
              <a:t>05</a:t>
            </a:r>
            <a:endParaRPr lang="en-US" sz="11000" dirty="0"/>
          </a:p>
        </p:txBody>
      </p:sp>
      <p:sp>
        <p:nvSpPr>
          <p:cNvPr id="7" name="Text 5"/>
          <p:cNvSpPr/>
          <p:nvPr/>
        </p:nvSpPr>
        <p:spPr>
          <a:xfrm>
            <a:off x="2926080" y="1371600"/>
            <a:ext cx="5669280" cy="274320"/>
          </a:xfrm>
          <a:prstGeom prst="rect">
            <a:avLst/>
          </a:prstGeom>
          <a:noFill/>
          <a:ln/>
        </p:spPr>
        <p:txBody>
          <a:bodyPr wrap="square" lIns="0" tIns="0" rIns="0" bIns="0" rtlCol="0" anchor="ctr"/>
          <a:lstStyle/>
          <a:p>
            <a:pPr indent="0" marL="0">
              <a:buNone/>
            </a:pPr>
            <a:r>
              <a:rPr lang="en-US" sz="1250" b="1" spc="300" kern="0" dirty="0">
                <a:solidFill>
                  <a:srgbClr val="C9A24B"/>
                </a:solidFill>
                <a:latin typeface="Calibri" pitchFamily="34" charset="0"/>
                <a:ea typeface="Calibri" pitchFamily="34" charset="-122"/>
                <a:cs typeface="Calibri" pitchFamily="34" charset="-120"/>
              </a:rPr>
              <a:t>AI MEETS CRYPTO</a:t>
            </a:r>
            <a:endParaRPr lang="en-US" sz="1250" dirty="0"/>
          </a:p>
        </p:txBody>
      </p:sp>
      <p:sp>
        <p:nvSpPr>
          <p:cNvPr id="8" name="Text 6"/>
          <p:cNvSpPr/>
          <p:nvPr/>
        </p:nvSpPr>
        <p:spPr>
          <a:xfrm>
            <a:off x="2926080" y="1691640"/>
            <a:ext cx="5669280" cy="960120"/>
          </a:xfrm>
          <a:prstGeom prst="rect">
            <a:avLst/>
          </a:prstGeom>
          <a:noFill/>
          <a:ln/>
          <a:effectLst>
            <a:outerShdw sx="100000" sy="100000" kx="0" ky="0" algn="bl" rotWithShape="0" blurRad="114300" dist="50800" dir="5400000">
              <a:srgbClr val="000000">
                <a:alpha val="28000"/>
              </a:srgbClr>
            </a:outerShdw>
          </a:effectLst>
        </p:spPr>
        <p:txBody>
          <a:bodyPr wrap="square" lIns="0" tIns="0" rIns="0" bIns="0" rtlCol="0" anchor="ctr"/>
          <a:lstStyle/>
          <a:p>
            <a:pPr indent="0" marL="0">
              <a:lnSpc>
                <a:spcPct val="98000"/>
              </a:lnSpc>
              <a:buNone/>
            </a:pPr>
            <a:r>
              <a:rPr lang="en-US" sz="3200" b="1" dirty="0">
                <a:solidFill>
                  <a:srgbClr val="F1ECDD"/>
                </a:solidFill>
                <a:latin typeface="Cambria" pitchFamily="34" charset="0"/>
                <a:ea typeface="Cambria" pitchFamily="34" charset="-122"/>
                <a:cs typeface="Cambria" pitchFamily="34" charset="-120"/>
              </a:rPr>
              <a:t>The Ledger and the Spoils</a:t>
            </a:r>
            <a:endParaRPr lang="en-US" sz="3200" dirty="0"/>
          </a:p>
        </p:txBody>
      </p:sp>
      <p:sp>
        <p:nvSpPr>
          <p:cNvPr id="9" name="Text 7"/>
          <p:cNvSpPr/>
          <p:nvPr/>
        </p:nvSpPr>
        <p:spPr>
          <a:xfrm>
            <a:off x="2926080" y="2743200"/>
            <a:ext cx="5669280" cy="502920"/>
          </a:xfrm>
          <a:prstGeom prst="rect">
            <a:avLst/>
          </a:prstGeom>
          <a:noFill/>
          <a:ln/>
        </p:spPr>
        <p:txBody>
          <a:bodyPr wrap="square" lIns="0" tIns="0" rIns="0" bIns="0" rtlCol="0" anchor="ctr"/>
          <a:lstStyle/>
          <a:p>
            <a:pPr indent="0" marL="0">
              <a:lnSpc>
                <a:spcPct val="100000"/>
              </a:lnSpc>
              <a:buNone/>
            </a:pPr>
            <a:r>
              <a:rPr lang="en-US" sz="1900" i="1" dirty="0">
                <a:solidFill>
                  <a:srgbClr val="C9A24B"/>
                </a:solidFill>
                <a:latin typeface="Cambria" pitchFamily="34" charset="0"/>
                <a:ea typeface="Cambria" pitchFamily="34" charset="-122"/>
                <a:cs typeface="Cambria" pitchFamily="34" charset="-120"/>
              </a:rPr>
              <a:t>The ledger was the easy part. The spoils are the prize.</a:t>
            </a:r>
            <a:endParaRPr lang="en-US" sz="1900" dirty="0"/>
          </a:p>
        </p:txBody>
      </p:sp>
      <p:sp>
        <p:nvSpPr>
          <p:cNvPr id="10" name="Text 8"/>
          <p:cNvSpPr/>
          <p:nvPr/>
        </p:nvSpPr>
        <p:spPr>
          <a:xfrm>
            <a:off x="2926080" y="3346704"/>
            <a:ext cx="5669280" cy="1371600"/>
          </a:xfrm>
          <a:prstGeom prst="rect">
            <a:avLst/>
          </a:prstGeom>
          <a:noFill/>
          <a:ln/>
        </p:spPr>
        <p:txBody>
          <a:bodyPr wrap="square" lIns="0" tIns="0" rIns="0" bIns="0" rtlCol="0" anchor="ctr"/>
          <a:lstStyle/>
          <a:p>
            <a:pPr indent="0" marL="0">
              <a:lnSpc>
                <a:spcPct val="116000"/>
              </a:lnSpc>
              <a:buNone/>
            </a:pPr>
            <a:r>
              <a:rPr lang="en-US" sz="1400" dirty="0">
                <a:solidFill>
                  <a:srgbClr val="CFD5E0"/>
                </a:solidFill>
                <a:latin typeface="Calibri" pitchFamily="34" charset="0"/>
                <a:ea typeface="Calibri" pitchFamily="34" charset="-122"/>
                <a:cs typeface="Calibri" pitchFamily="34" charset="-120"/>
              </a:rPr>
              <a:t>Crypto decentralized the ledger but left the rewards concentrated in a few hands. Joining AI's value creation to crypto's verifiable ownership can finally decentralize the spoils themselves.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1EA"/>
        </a:solidFill>
      </p:bgPr>
    </p:bg>
    <p:spTree>
      <p:nvGrpSpPr>
        <p:cNvPr id="1" name=""/>
        <p:cNvGrpSpPr/>
        <p:nvPr/>
      </p:nvGrpSpPr>
      <p:grpSpPr>
        <a:xfrm>
          <a:off x="0" y="0"/>
          <a:ext cx="0" cy="0"/>
          <a:chOff x="0" y="0"/>
          <a:chExt cx="0" cy="0"/>
        </a:xfrm>
      </p:grpSpPr>
      <p:sp>
        <p:nvSpPr>
          <p:cNvPr id="2" name="Shape 0"/>
          <p:cNvSpPr/>
          <p:nvPr/>
        </p:nvSpPr>
        <p:spPr>
          <a:xfrm rot="2700000">
            <a:off x="566928" y="365760"/>
            <a:ext cx="109728" cy="109728"/>
          </a:xfrm>
          <a:prstGeom prst="rect">
            <a:avLst/>
          </a:prstGeom>
          <a:solidFill>
            <a:srgbClr val="B08D3A"/>
          </a:solidFill>
          <a:ln/>
        </p:spPr>
      </p:sp>
      <p:sp>
        <p:nvSpPr>
          <p:cNvPr id="3" name="Text 1"/>
          <p:cNvSpPr/>
          <p:nvPr/>
        </p:nvSpPr>
        <p:spPr>
          <a:xfrm>
            <a:off x="786384" y="274320"/>
            <a:ext cx="3657600" cy="292608"/>
          </a:xfrm>
          <a:prstGeom prst="rect">
            <a:avLst/>
          </a:prstGeom>
          <a:noFill/>
          <a:ln/>
        </p:spPr>
        <p:txBody>
          <a:bodyPr wrap="square" lIns="0" tIns="0" rIns="0" bIns="0" rtlCol="0" anchor="ctr"/>
          <a:lstStyle/>
          <a:p>
            <a:pPr indent="0" marL="0">
              <a:buNone/>
            </a:pPr>
            <a:r>
              <a:rPr lang="en-US" sz="1150" b="1" spc="300" kern="0" dirty="0">
                <a:solidFill>
                  <a:srgbClr val="1B2A4A"/>
                </a:solidFill>
                <a:latin typeface="Calibri" pitchFamily="34" charset="0"/>
                <a:ea typeface="Calibri" pitchFamily="34" charset="-122"/>
                <a:cs typeface="Calibri" pitchFamily="34" charset="-120"/>
              </a:rPr>
              <a:t>WE THE USERS</a:t>
            </a:r>
            <a:endParaRPr lang="en-US" sz="1150" dirty="0"/>
          </a:p>
        </p:txBody>
      </p:sp>
      <p:sp>
        <p:nvSpPr>
          <p:cNvPr id="4" name="Text 2"/>
          <p:cNvSpPr/>
          <p:nvPr/>
        </p:nvSpPr>
        <p:spPr>
          <a:xfrm>
            <a:off x="8138160" y="4668012"/>
            <a:ext cx="457200" cy="274320"/>
          </a:xfrm>
          <a:prstGeom prst="rect">
            <a:avLst/>
          </a:prstGeom>
          <a:noFill/>
          <a:ln/>
        </p:spPr>
        <p:txBody>
          <a:bodyPr wrap="square" lIns="0" tIns="0" rIns="0" bIns="0" rtlCol="0" anchor="ctr"/>
          <a:lstStyle/>
          <a:p>
            <a:pPr algn="r" indent="0" marL="0">
              <a:buNone/>
            </a:pPr>
            <a:r>
              <a:rPr lang="en-US" sz="1000" dirty="0">
                <a:solidFill>
                  <a:srgbClr val="76716A"/>
                </a:solidFill>
                <a:latin typeface="Calibri" pitchFamily="34" charset="0"/>
                <a:ea typeface="Calibri" pitchFamily="34" charset="-122"/>
                <a:cs typeface="Calibri" pitchFamily="34" charset="-120"/>
              </a:rPr>
              <a:t>18</a:t>
            </a:r>
            <a:endParaRPr lang="en-US" sz="1000" dirty="0"/>
          </a:p>
        </p:txBody>
      </p:sp>
      <p:sp>
        <p:nvSpPr>
          <p:cNvPr id="5" name="Text 3"/>
          <p:cNvSpPr/>
          <p:nvPr/>
        </p:nvSpPr>
        <p:spPr>
          <a:xfrm>
            <a:off x="566928" y="1170432"/>
            <a:ext cx="7315200" cy="274320"/>
          </a:xfrm>
          <a:prstGeom prst="rect">
            <a:avLst/>
          </a:prstGeom>
          <a:noFill/>
          <a:ln/>
        </p:spPr>
        <p:txBody>
          <a:bodyPr wrap="square" lIns="0" tIns="0" rIns="0" bIns="0" rtlCol="0" anchor="ctr"/>
          <a:lstStyle/>
          <a:p>
            <a:pPr indent="0" marL="0">
              <a:buNone/>
            </a:pPr>
            <a:r>
              <a:rPr lang="en-US" sz="1250" b="1" spc="320" kern="0" dirty="0">
                <a:solidFill>
                  <a:srgbClr val="B08D3A"/>
                </a:solidFill>
                <a:latin typeface="Calibri" pitchFamily="34" charset="0"/>
                <a:ea typeface="Calibri" pitchFamily="34" charset="-122"/>
                <a:cs typeface="Calibri" pitchFamily="34" charset="-120"/>
              </a:rPr>
              <a:t>WHAT WE LAUNCH ON JULY 2</a:t>
            </a:r>
            <a:endParaRPr lang="en-US" sz="1250" dirty="0"/>
          </a:p>
        </p:txBody>
      </p:sp>
      <p:sp>
        <p:nvSpPr>
          <p:cNvPr id="6" name="Text 4"/>
          <p:cNvSpPr/>
          <p:nvPr/>
        </p:nvSpPr>
        <p:spPr>
          <a:xfrm>
            <a:off x="566928" y="1481328"/>
            <a:ext cx="8229600" cy="777240"/>
          </a:xfrm>
          <a:prstGeom prst="rect">
            <a:avLst/>
          </a:prstGeom>
          <a:noFill/>
          <a:ln/>
        </p:spPr>
        <p:txBody>
          <a:bodyPr wrap="square" lIns="0" tIns="0" rIns="0" bIns="0" rtlCol="0" anchor="ctr"/>
          <a:lstStyle/>
          <a:p>
            <a:pPr indent="0" marL="0">
              <a:buNone/>
            </a:pPr>
            <a:r>
              <a:rPr lang="en-US" sz="3600" b="1" dirty="0">
                <a:solidFill>
                  <a:srgbClr val="1B2A4A"/>
                </a:solidFill>
                <a:latin typeface="Cambria" pitchFamily="34" charset="0"/>
                <a:ea typeface="Cambria" pitchFamily="34" charset="-122"/>
                <a:cs typeface="Cambria" pitchFamily="34" charset="-120"/>
              </a:rPr>
              <a:t>Words first. Then the building.</a:t>
            </a:r>
            <a:endParaRPr lang="en-US" sz="3600" dirty="0"/>
          </a:p>
        </p:txBody>
      </p:sp>
      <p:sp>
        <p:nvSpPr>
          <p:cNvPr id="7" name="Shape 5"/>
          <p:cNvSpPr/>
          <p:nvPr/>
        </p:nvSpPr>
        <p:spPr>
          <a:xfrm>
            <a:off x="566928" y="2542032"/>
            <a:ext cx="2505456" cy="1554480"/>
          </a:xfrm>
          <a:prstGeom prst="roundRect">
            <a:avLst>
              <a:gd name="adj" fmla="val 4706"/>
            </a:avLst>
          </a:prstGeom>
          <a:solidFill>
            <a:srgbClr val="FBF8F0"/>
          </a:solidFill>
          <a:ln/>
          <a:effectLst>
            <a:outerShdw sx="100000" sy="100000" kx="0" ky="0" algn="bl" rotWithShape="0" blurRad="76200" dist="25400" dir="5400000">
              <a:srgbClr val="9A927C">
                <a:alpha val="20000"/>
              </a:srgbClr>
            </a:outerShdw>
          </a:effectLst>
        </p:spPr>
      </p:sp>
      <p:pic>
        <p:nvPicPr>
          <p:cNvPr id="8" name="Image 0" descr="preencoded.png">    </p:cNvPr>
          <p:cNvPicPr>
            <a:picLocks noChangeAspect="1"/>
          </p:cNvPicPr>
          <p:nvPr/>
        </p:nvPicPr>
        <p:blipFill>
          <a:blip r:embed="rId1"/>
          <a:stretch>
            <a:fillRect/>
          </a:stretch>
        </p:blipFill>
        <p:spPr>
          <a:xfrm>
            <a:off x="804672" y="2743200"/>
            <a:ext cx="512064" cy="512064"/>
          </a:xfrm>
          <a:prstGeom prst="rect">
            <a:avLst/>
          </a:prstGeom>
        </p:spPr>
      </p:pic>
      <p:sp>
        <p:nvSpPr>
          <p:cNvPr id="9" name="Text 6"/>
          <p:cNvSpPr/>
          <p:nvPr/>
        </p:nvSpPr>
        <p:spPr>
          <a:xfrm>
            <a:off x="804672" y="3310128"/>
            <a:ext cx="2048256" cy="329184"/>
          </a:xfrm>
          <a:prstGeom prst="rect">
            <a:avLst/>
          </a:prstGeom>
          <a:noFill/>
          <a:ln/>
        </p:spPr>
        <p:txBody>
          <a:bodyPr wrap="square" lIns="0" tIns="0" rIns="0" bIns="0" rtlCol="0" anchor="ctr"/>
          <a:lstStyle/>
          <a:p>
            <a:pPr indent="0" marL="0">
              <a:buNone/>
            </a:pPr>
            <a:r>
              <a:rPr lang="en-US" sz="1700" b="1" dirty="0">
                <a:solidFill>
                  <a:srgbClr val="1B2A4A"/>
                </a:solidFill>
                <a:latin typeface="Cambria" pitchFamily="34" charset="0"/>
                <a:ea typeface="Cambria" pitchFamily="34" charset="-122"/>
                <a:cs typeface="Cambria" pitchFamily="34" charset="-120"/>
              </a:rPr>
              <a:t>The Declaration</a:t>
            </a:r>
            <a:endParaRPr lang="en-US" sz="1700" dirty="0"/>
          </a:p>
        </p:txBody>
      </p:sp>
      <p:sp>
        <p:nvSpPr>
          <p:cNvPr id="10" name="Text 7"/>
          <p:cNvSpPr/>
          <p:nvPr/>
        </p:nvSpPr>
        <p:spPr>
          <a:xfrm>
            <a:off x="804672" y="3639312"/>
            <a:ext cx="2048256" cy="420624"/>
          </a:xfrm>
          <a:prstGeom prst="rect">
            <a:avLst/>
          </a:prstGeom>
          <a:noFill/>
          <a:ln/>
        </p:spPr>
        <p:txBody>
          <a:bodyPr wrap="square" lIns="0" tIns="0" rIns="0" bIns="0" rtlCol="0" anchor="ctr"/>
          <a:lstStyle/>
          <a:p>
            <a:pPr indent="0" marL="0">
              <a:lnSpc>
                <a:spcPct val="108000"/>
              </a:lnSpc>
              <a:buNone/>
            </a:pPr>
            <a:r>
              <a:rPr lang="en-US" sz="1250" dirty="0">
                <a:solidFill>
                  <a:srgbClr val="3B4663"/>
                </a:solidFill>
                <a:latin typeface="Calibri" pitchFamily="34" charset="0"/>
                <a:ea typeface="Calibri" pitchFamily="34" charset="-122"/>
                <a:cs typeface="Calibri" pitchFamily="34" charset="-120"/>
              </a:rPr>
              <a:t>The principles, the grievances, and the intent.</a:t>
            </a:r>
            <a:endParaRPr lang="en-US" sz="1250" dirty="0"/>
          </a:p>
        </p:txBody>
      </p:sp>
      <p:sp>
        <p:nvSpPr>
          <p:cNvPr id="11" name="Shape 8"/>
          <p:cNvSpPr/>
          <p:nvPr/>
        </p:nvSpPr>
        <p:spPr>
          <a:xfrm>
            <a:off x="3236976" y="2542032"/>
            <a:ext cx="2505456" cy="1554480"/>
          </a:xfrm>
          <a:prstGeom prst="roundRect">
            <a:avLst>
              <a:gd name="adj" fmla="val 4706"/>
            </a:avLst>
          </a:prstGeom>
          <a:solidFill>
            <a:srgbClr val="FBF8F0"/>
          </a:solidFill>
          <a:ln/>
          <a:effectLst>
            <a:outerShdw sx="100000" sy="100000" kx="0" ky="0" algn="bl" rotWithShape="0" blurRad="76200" dist="25400" dir="5400000">
              <a:srgbClr val="9A927C">
                <a:alpha val="20000"/>
              </a:srgbClr>
            </a:outerShdw>
          </a:effectLst>
        </p:spPr>
      </p:sp>
      <p:pic>
        <p:nvPicPr>
          <p:cNvPr id="12" name="Image 1" descr="preencoded.png">    </p:cNvPr>
          <p:cNvPicPr>
            <a:picLocks noChangeAspect="1"/>
          </p:cNvPicPr>
          <p:nvPr/>
        </p:nvPicPr>
        <p:blipFill>
          <a:blip r:embed="rId2"/>
          <a:stretch>
            <a:fillRect/>
          </a:stretch>
        </p:blipFill>
        <p:spPr>
          <a:xfrm>
            <a:off x="3474720" y="2743200"/>
            <a:ext cx="512064" cy="512064"/>
          </a:xfrm>
          <a:prstGeom prst="rect">
            <a:avLst/>
          </a:prstGeom>
        </p:spPr>
      </p:pic>
      <p:sp>
        <p:nvSpPr>
          <p:cNvPr id="13" name="Text 9"/>
          <p:cNvSpPr/>
          <p:nvPr/>
        </p:nvSpPr>
        <p:spPr>
          <a:xfrm>
            <a:off x="3474720" y="3310128"/>
            <a:ext cx="2048256" cy="329184"/>
          </a:xfrm>
          <a:prstGeom prst="rect">
            <a:avLst/>
          </a:prstGeom>
          <a:noFill/>
          <a:ln/>
        </p:spPr>
        <p:txBody>
          <a:bodyPr wrap="square" lIns="0" tIns="0" rIns="0" bIns="0" rtlCol="0" anchor="ctr"/>
          <a:lstStyle/>
          <a:p>
            <a:pPr indent="0" marL="0">
              <a:buNone/>
            </a:pPr>
            <a:r>
              <a:rPr lang="en-US" sz="1700" b="1" dirty="0">
                <a:solidFill>
                  <a:srgbClr val="1B2A4A"/>
                </a:solidFill>
                <a:latin typeface="Cambria" pitchFamily="34" charset="0"/>
                <a:ea typeface="Cambria" pitchFamily="34" charset="-122"/>
                <a:cs typeface="Cambria" pitchFamily="34" charset="-120"/>
              </a:rPr>
              <a:t>The case</a:t>
            </a:r>
            <a:endParaRPr lang="en-US" sz="1700" dirty="0"/>
          </a:p>
        </p:txBody>
      </p:sp>
      <p:sp>
        <p:nvSpPr>
          <p:cNvPr id="14" name="Text 10"/>
          <p:cNvSpPr/>
          <p:nvPr/>
        </p:nvSpPr>
        <p:spPr>
          <a:xfrm>
            <a:off x="3474720" y="3639312"/>
            <a:ext cx="2048256" cy="420624"/>
          </a:xfrm>
          <a:prstGeom prst="rect">
            <a:avLst/>
          </a:prstGeom>
          <a:noFill/>
          <a:ln/>
        </p:spPr>
        <p:txBody>
          <a:bodyPr wrap="square" lIns="0" tIns="0" rIns="0" bIns="0" rtlCol="0" anchor="ctr"/>
          <a:lstStyle/>
          <a:p>
            <a:pPr indent="0" marL="0">
              <a:lnSpc>
                <a:spcPct val="108000"/>
              </a:lnSpc>
              <a:buNone/>
            </a:pPr>
            <a:r>
              <a:rPr lang="en-US" sz="1250" dirty="0">
                <a:solidFill>
                  <a:srgbClr val="3B4663"/>
                </a:solidFill>
                <a:latin typeface="Calibri" pitchFamily="34" charset="0"/>
                <a:ea typeface="Calibri" pitchFamily="34" charset="-122"/>
                <a:cs typeface="Calibri" pitchFamily="34" charset="-120"/>
              </a:rPr>
              <a:t>Five short essays making the argument in full.</a:t>
            </a:r>
            <a:endParaRPr lang="en-US" sz="1250" dirty="0"/>
          </a:p>
        </p:txBody>
      </p:sp>
      <p:sp>
        <p:nvSpPr>
          <p:cNvPr id="15" name="Shape 11"/>
          <p:cNvSpPr/>
          <p:nvPr/>
        </p:nvSpPr>
        <p:spPr>
          <a:xfrm>
            <a:off x="5907024" y="2542032"/>
            <a:ext cx="2505456" cy="1554480"/>
          </a:xfrm>
          <a:prstGeom prst="roundRect">
            <a:avLst>
              <a:gd name="adj" fmla="val 4706"/>
            </a:avLst>
          </a:prstGeom>
          <a:solidFill>
            <a:srgbClr val="FBF8F0"/>
          </a:solidFill>
          <a:ln/>
          <a:effectLst>
            <a:outerShdw sx="100000" sy="100000" kx="0" ky="0" algn="bl" rotWithShape="0" blurRad="76200" dist="25400" dir="5400000">
              <a:srgbClr val="9A927C">
                <a:alpha val="20000"/>
              </a:srgbClr>
            </a:outerShdw>
          </a:effectLst>
        </p:spPr>
      </p:sp>
      <p:pic>
        <p:nvPicPr>
          <p:cNvPr id="16" name="Image 2" descr="preencoded.png">    </p:cNvPr>
          <p:cNvPicPr>
            <a:picLocks noChangeAspect="1"/>
          </p:cNvPicPr>
          <p:nvPr/>
        </p:nvPicPr>
        <p:blipFill>
          <a:blip r:embed="rId3"/>
          <a:stretch>
            <a:fillRect/>
          </a:stretch>
        </p:blipFill>
        <p:spPr>
          <a:xfrm>
            <a:off x="6144768" y="2743200"/>
            <a:ext cx="512064" cy="512064"/>
          </a:xfrm>
          <a:prstGeom prst="rect">
            <a:avLst/>
          </a:prstGeom>
        </p:spPr>
      </p:pic>
      <p:sp>
        <p:nvSpPr>
          <p:cNvPr id="17" name="Text 12"/>
          <p:cNvSpPr/>
          <p:nvPr/>
        </p:nvSpPr>
        <p:spPr>
          <a:xfrm>
            <a:off x="6144768" y="3310128"/>
            <a:ext cx="2048256" cy="329184"/>
          </a:xfrm>
          <a:prstGeom prst="rect">
            <a:avLst/>
          </a:prstGeom>
          <a:noFill/>
          <a:ln/>
        </p:spPr>
        <p:txBody>
          <a:bodyPr wrap="square" lIns="0" tIns="0" rIns="0" bIns="0" rtlCol="0" anchor="ctr"/>
          <a:lstStyle/>
          <a:p>
            <a:pPr indent="0" marL="0">
              <a:buNone/>
            </a:pPr>
            <a:r>
              <a:rPr lang="en-US" sz="1700" b="1" dirty="0">
                <a:solidFill>
                  <a:srgbClr val="1B2A4A"/>
                </a:solidFill>
                <a:latin typeface="Cambria" pitchFamily="34" charset="0"/>
                <a:ea typeface="Cambria" pitchFamily="34" charset="-122"/>
                <a:cs typeface="Cambria" pitchFamily="34" charset="-120"/>
              </a:rPr>
              <a:t>Your name</a:t>
            </a:r>
            <a:endParaRPr lang="en-US" sz="1700" dirty="0"/>
          </a:p>
        </p:txBody>
      </p:sp>
      <p:sp>
        <p:nvSpPr>
          <p:cNvPr id="18" name="Text 13"/>
          <p:cNvSpPr/>
          <p:nvPr/>
        </p:nvSpPr>
        <p:spPr>
          <a:xfrm>
            <a:off x="6144768" y="3639312"/>
            <a:ext cx="2048256" cy="420624"/>
          </a:xfrm>
          <a:prstGeom prst="rect">
            <a:avLst/>
          </a:prstGeom>
          <a:noFill/>
          <a:ln/>
        </p:spPr>
        <p:txBody>
          <a:bodyPr wrap="square" lIns="0" tIns="0" rIns="0" bIns="0" rtlCol="0" anchor="ctr"/>
          <a:lstStyle/>
          <a:p>
            <a:pPr indent="0" marL="0">
              <a:lnSpc>
                <a:spcPct val="108000"/>
              </a:lnSpc>
              <a:buNone/>
            </a:pPr>
            <a:r>
              <a:rPr lang="en-US" sz="1250" dirty="0">
                <a:solidFill>
                  <a:srgbClr val="3B4663"/>
                </a:solidFill>
                <a:latin typeface="Calibri" pitchFamily="34" charset="0"/>
                <a:ea typeface="Calibri" pitchFamily="34" charset="-122"/>
                <a:cs typeface="Calibri" pitchFamily="34" charset="-120"/>
              </a:rPr>
              <a:t>A place to affirm it and join the founding cohort.</a:t>
            </a:r>
            <a:endParaRPr lang="en-US" sz="1250" dirty="0"/>
          </a:p>
        </p:txBody>
      </p:sp>
      <p:sp>
        <p:nvSpPr>
          <p:cNvPr id="19" name="Text 14"/>
          <p:cNvSpPr/>
          <p:nvPr/>
        </p:nvSpPr>
        <p:spPr>
          <a:xfrm>
            <a:off x="566928" y="4297680"/>
            <a:ext cx="8229600" cy="365760"/>
          </a:xfrm>
          <a:prstGeom prst="rect">
            <a:avLst/>
          </a:prstGeom>
          <a:noFill/>
          <a:ln/>
        </p:spPr>
        <p:txBody>
          <a:bodyPr wrap="square" lIns="0" tIns="0" rIns="0" bIns="0" rtlCol="0" anchor="ctr"/>
          <a:lstStyle/>
          <a:p>
            <a:pPr indent="0" marL="0">
              <a:buNone/>
            </a:pPr>
            <a:r>
              <a:rPr lang="en-US" sz="1600" i="1" dirty="0">
                <a:solidFill>
                  <a:srgbClr val="B08D3A"/>
                </a:solidFill>
                <a:latin typeface="Cambria" pitchFamily="34" charset="0"/>
                <a:ea typeface="Cambria" pitchFamily="34" charset="-122"/>
                <a:cs typeface="Cambria" pitchFamily="34" charset="-120"/>
              </a:rPr>
              <a:t>The constitution comes after: the Covenant and the Code, written in public.</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2A4A"/>
        </a:solidFill>
      </p:bgPr>
    </p:bg>
    <p:spTree>
      <p:nvGrpSpPr>
        <p:cNvPr id="1" name=""/>
        <p:cNvGrpSpPr/>
        <p:nvPr/>
      </p:nvGrpSpPr>
      <p:grpSpPr>
        <a:xfrm>
          <a:off x="0" y="0"/>
          <a:ext cx="0" cy="0"/>
          <a:chOff x="0" y="0"/>
          <a:chExt cx="0" cy="0"/>
        </a:xfrm>
      </p:grpSpPr>
      <p:sp>
        <p:nvSpPr>
          <p:cNvPr id="2" name="Shape 0"/>
          <p:cNvSpPr/>
          <p:nvPr/>
        </p:nvSpPr>
        <p:spPr>
          <a:xfrm rot="2700000">
            <a:off x="566928" y="365760"/>
            <a:ext cx="109728" cy="109728"/>
          </a:xfrm>
          <a:prstGeom prst="rect">
            <a:avLst/>
          </a:prstGeom>
          <a:solidFill>
            <a:srgbClr val="B08D3A"/>
          </a:solidFill>
          <a:ln/>
        </p:spPr>
      </p:sp>
      <p:sp>
        <p:nvSpPr>
          <p:cNvPr id="3" name="Text 1"/>
          <p:cNvSpPr/>
          <p:nvPr/>
        </p:nvSpPr>
        <p:spPr>
          <a:xfrm>
            <a:off x="786384" y="274320"/>
            <a:ext cx="3657600" cy="292608"/>
          </a:xfrm>
          <a:prstGeom prst="rect">
            <a:avLst/>
          </a:prstGeom>
          <a:noFill/>
          <a:ln/>
        </p:spPr>
        <p:txBody>
          <a:bodyPr wrap="square" lIns="0" tIns="0" rIns="0" bIns="0" rtlCol="0" anchor="ctr"/>
          <a:lstStyle/>
          <a:p>
            <a:pPr indent="0" marL="0">
              <a:buNone/>
            </a:pPr>
            <a:r>
              <a:rPr lang="en-US" sz="1150" b="1" spc="300" kern="0" dirty="0">
                <a:solidFill>
                  <a:srgbClr val="F1ECDD"/>
                </a:solidFill>
                <a:latin typeface="Calibri" pitchFamily="34" charset="0"/>
                <a:ea typeface="Calibri" pitchFamily="34" charset="-122"/>
                <a:cs typeface="Calibri" pitchFamily="34" charset="-120"/>
              </a:rPr>
              <a:t>WE THE USERS</a:t>
            </a:r>
            <a:endParaRPr lang="en-US" sz="1150" dirty="0"/>
          </a:p>
        </p:txBody>
      </p:sp>
      <p:sp>
        <p:nvSpPr>
          <p:cNvPr id="4" name="Text 2"/>
          <p:cNvSpPr/>
          <p:nvPr/>
        </p:nvSpPr>
        <p:spPr>
          <a:xfrm>
            <a:off x="8138160" y="4668012"/>
            <a:ext cx="457200" cy="274320"/>
          </a:xfrm>
          <a:prstGeom prst="rect">
            <a:avLst/>
          </a:prstGeom>
          <a:noFill/>
          <a:ln/>
        </p:spPr>
        <p:txBody>
          <a:bodyPr wrap="square" lIns="0" tIns="0" rIns="0" bIns="0" rtlCol="0" anchor="ctr"/>
          <a:lstStyle/>
          <a:p>
            <a:pPr algn="r" indent="0" marL="0">
              <a:buNone/>
            </a:pPr>
            <a:r>
              <a:rPr lang="en-US" sz="1000" dirty="0">
                <a:solidFill>
                  <a:srgbClr val="9AA6BC"/>
                </a:solidFill>
                <a:latin typeface="Calibri" pitchFamily="34" charset="0"/>
                <a:ea typeface="Calibri" pitchFamily="34" charset="-122"/>
                <a:cs typeface="Calibri" pitchFamily="34" charset="-120"/>
              </a:rPr>
              <a:t>19</a:t>
            </a:r>
            <a:endParaRPr lang="en-US" sz="1000" dirty="0"/>
          </a:p>
        </p:txBody>
      </p:sp>
      <p:sp>
        <p:nvSpPr>
          <p:cNvPr id="5" name="Text 3"/>
          <p:cNvSpPr/>
          <p:nvPr/>
        </p:nvSpPr>
        <p:spPr>
          <a:xfrm>
            <a:off x="566928" y="1371600"/>
            <a:ext cx="7315200" cy="274320"/>
          </a:xfrm>
          <a:prstGeom prst="rect">
            <a:avLst/>
          </a:prstGeom>
          <a:noFill/>
          <a:ln/>
        </p:spPr>
        <p:txBody>
          <a:bodyPr wrap="square" lIns="0" tIns="0" rIns="0" bIns="0" rtlCol="0" anchor="ctr"/>
          <a:lstStyle/>
          <a:p>
            <a:pPr indent="0" marL="0">
              <a:buNone/>
            </a:pPr>
            <a:r>
              <a:rPr lang="en-US" sz="1250" b="1" spc="320" kern="0" dirty="0">
                <a:solidFill>
                  <a:srgbClr val="C9A24B"/>
                </a:solidFill>
                <a:latin typeface="Calibri" pitchFamily="34" charset="0"/>
                <a:ea typeface="Calibri" pitchFamily="34" charset="-122"/>
                <a:cs typeface="Calibri" pitchFamily="34" charset="-120"/>
              </a:rPr>
              <a:t>WHO IT IS FOR</a:t>
            </a:r>
            <a:endParaRPr lang="en-US" sz="1250" dirty="0"/>
          </a:p>
        </p:txBody>
      </p:sp>
      <p:sp>
        <p:nvSpPr>
          <p:cNvPr id="6" name="Text 4"/>
          <p:cNvSpPr/>
          <p:nvPr/>
        </p:nvSpPr>
        <p:spPr>
          <a:xfrm>
            <a:off x="566928" y="1783080"/>
            <a:ext cx="8229600" cy="914400"/>
          </a:xfrm>
          <a:prstGeom prst="rect">
            <a:avLst/>
          </a:prstGeom>
          <a:noFill/>
          <a:ln/>
          <a:effectLst>
            <a:outerShdw sx="100000" sy="100000" kx="0" ky="0" algn="bl" rotWithShape="0" blurRad="114300" dist="50800" dir="5400000">
              <a:srgbClr val="000000">
                <a:alpha val="30000"/>
              </a:srgbClr>
            </a:outerShdw>
          </a:effectLst>
        </p:spPr>
        <p:txBody>
          <a:bodyPr wrap="square" lIns="0" tIns="0" rIns="0" bIns="0" rtlCol="0" anchor="ctr"/>
          <a:lstStyle/>
          <a:p>
            <a:pPr indent="0" marL="0">
              <a:buNone/>
            </a:pPr>
            <a:r>
              <a:rPr lang="en-US" sz="4800" b="1" dirty="0">
                <a:solidFill>
                  <a:srgbClr val="F1ECDD"/>
                </a:solidFill>
                <a:latin typeface="Cambria" pitchFamily="34" charset="0"/>
                <a:ea typeface="Cambria" pitchFamily="34" charset="-122"/>
                <a:cs typeface="Cambria" pitchFamily="34" charset="-120"/>
              </a:rPr>
              <a:t>This one is for everyone.</a:t>
            </a:r>
            <a:endParaRPr lang="en-US" sz="4800" dirty="0"/>
          </a:p>
        </p:txBody>
      </p:sp>
      <p:sp>
        <p:nvSpPr>
          <p:cNvPr id="7" name="Text 5"/>
          <p:cNvSpPr/>
          <p:nvPr/>
        </p:nvSpPr>
        <p:spPr>
          <a:xfrm>
            <a:off x="566928" y="3063240"/>
            <a:ext cx="7955280" cy="1005840"/>
          </a:xfrm>
          <a:prstGeom prst="rect">
            <a:avLst/>
          </a:prstGeom>
          <a:noFill/>
          <a:ln/>
        </p:spPr>
        <p:txBody>
          <a:bodyPr wrap="square" lIns="0" tIns="0" rIns="0" bIns="0" rtlCol="0" anchor="ctr"/>
          <a:lstStyle/>
          <a:p>
            <a:pPr indent="0" marL="0">
              <a:lnSpc>
                <a:spcPct val="120000"/>
              </a:lnSpc>
              <a:buNone/>
            </a:pPr>
            <a:r>
              <a:rPr lang="en-US" sz="2000" dirty="0">
                <a:solidFill>
                  <a:srgbClr val="CFD5E0"/>
                </a:solidFill>
                <a:latin typeface="Calibri" pitchFamily="34" charset="0"/>
                <a:ea typeface="Calibri" pitchFamily="34" charset="-122"/>
                <a:cs typeface="Calibri" pitchFamily="34" charset="-120"/>
              </a:rPr>
              <a:t>Belonging is a matter of affirmation and participation.</a:t>
            </a:r>
            <a:endParaRPr lang="en-US" sz="2000" dirty="0"/>
          </a:p>
          <a:p>
            <a:pPr indent="0" marL="0">
              <a:lnSpc>
                <a:spcPct val="120000"/>
              </a:lnSpc>
              <a:buNone/>
            </a:pPr>
            <a:r>
              <a:rPr lang="en-US" sz="2000" b="1" dirty="0">
                <a:solidFill>
                  <a:srgbClr val="C9A24B"/>
                </a:solidFill>
                <a:latin typeface="Calibri" pitchFamily="34" charset="0"/>
                <a:ea typeface="Calibri" pitchFamily="34" charset="-122"/>
                <a:cs typeface="Calibri" pitchFamily="34" charset="-120"/>
              </a:rPr>
              <a:t>Not of birth, or border, or wealth.</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3203B"/>
        </a:solidFill>
      </p:bgPr>
    </p:bg>
    <p:spTree>
      <p:nvGrpSpPr>
        <p:cNvPr id="1" name=""/>
        <p:cNvGrpSpPr/>
        <p:nvPr/>
      </p:nvGrpSpPr>
      <p:grpSpPr>
        <a:xfrm>
          <a:off x="0" y="0"/>
          <a:ext cx="0" cy="0"/>
          <a:chOff x="0" y="0"/>
          <a:chExt cx="0" cy="0"/>
        </a:xfrm>
      </p:grpSpPr>
      <p:sp>
        <p:nvSpPr>
          <p:cNvPr id="2" name="Shape 0"/>
          <p:cNvSpPr/>
          <p:nvPr/>
        </p:nvSpPr>
        <p:spPr>
          <a:xfrm rot="2700000">
            <a:off x="566928" y="365760"/>
            <a:ext cx="109728" cy="109728"/>
          </a:xfrm>
          <a:prstGeom prst="rect">
            <a:avLst/>
          </a:prstGeom>
          <a:solidFill>
            <a:srgbClr val="B08D3A"/>
          </a:solidFill>
          <a:ln/>
        </p:spPr>
      </p:sp>
      <p:sp>
        <p:nvSpPr>
          <p:cNvPr id="3" name="Text 1"/>
          <p:cNvSpPr/>
          <p:nvPr/>
        </p:nvSpPr>
        <p:spPr>
          <a:xfrm>
            <a:off x="786384" y="274320"/>
            <a:ext cx="3657600" cy="292608"/>
          </a:xfrm>
          <a:prstGeom prst="rect">
            <a:avLst/>
          </a:prstGeom>
          <a:noFill/>
          <a:ln/>
        </p:spPr>
        <p:txBody>
          <a:bodyPr wrap="square" lIns="0" tIns="0" rIns="0" bIns="0" rtlCol="0" anchor="ctr"/>
          <a:lstStyle/>
          <a:p>
            <a:pPr indent="0" marL="0">
              <a:buNone/>
            </a:pPr>
            <a:r>
              <a:rPr lang="en-US" sz="1150" b="1" spc="300" kern="0" dirty="0">
                <a:solidFill>
                  <a:srgbClr val="F1ECDD"/>
                </a:solidFill>
                <a:latin typeface="Calibri" pitchFamily="34" charset="0"/>
                <a:ea typeface="Calibri" pitchFamily="34" charset="-122"/>
                <a:cs typeface="Calibri" pitchFamily="34" charset="-120"/>
              </a:rPr>
              <a:t>WE THE USERS</a:t>
            </a:r>
            <a:endParaRPr lang="en-US" sz="1150" dirty="0"/>
          </a:p>
        </p:txBody>
      </p:sp>
      <p:sp>
        <p:nvSpPr>
          <p:cNvPr id="4" name="Text 2"/>
          <p:cNvSpPr/>
          <p:nvPr/>
        </p:nvSpPr>
        <p:spPr>
          <a:xfrm>
            <a:off x="8138160" y="4668012"/>
            <a:ext cx="457200" cy="274320"/>
          </a:xfrm>
          <a:prstGeom prst="rect">
            <a:avLst/>
          </a:prstGeom>
          <a:noFill/>
          <a:ln/>
        </p:spPr>
        <p:txBody>
          <a:bodyPr wrap="square" lIns="0" tIns="0" rIns="0" bIns="0" rtlCol="0" anchor="ctr"/>
          <a:lstStyle/>
          <a:p>
            <a:pPr algn="r" indent="0" marL="0">
              <a:buNone/>
            </a:pPr>
            <a:r>
              <a:rPr lang="en-US" sz="1000" dirty="0">
                <a:solidFill>
                  <a:srgbClr val="9AA6BC"/>
                </a:solidFill>
                <a:latin typeface="Calibri" pitchFamily="34" charset="0"/>
                <a:ea typeface="Calibri" pitchFamily="34" charset="-122"/>
                <a:cs typeface="Calibri" pitchFamily="34" charset="-120"/>
              </a:rPr>
              <a:t>20</a:t>
            </a:r>
            <a:endParaRPr lang="en-US" sz="1000" dirty="0"/>
          </a:p>
        </p:txBody>
      </p:sp>
      <p:sp>
        <p:nvSpPr>
          <p:cNvPr id="5" name="Shape 3"/>
          <p:cNvSpPr/>
          <p:nvPr/>
        </p:nvSpPr>
        <p:spPr>
          <a:xfrm rot="2700000">
            <a:off x="4498848" y="1234440"/>
            <a:ext cx="146304" cy="146304"/>
          </a:xfrm>
          <a:prstGeom prst="rect">
            <a:avLst/>
          </a:prstGeom>
          <a:solidFill>
            <a:srgbClr val="B08D3A"/>
          </a:solidFill>
          <a:ln/>
        </p:spPr>
      </p:sp>
      <p:sp>
        <p:nvSpPr>
          <p:cNvPr id="6" name="Text 4"/>
          <p:cNvSpPr/>
          <p:nvPr/>
        </p:nvSpPr>
        <p:spPr>
          <a:xfrm>
            <a:off x="0" y="1591056"/>
            <a:ext cx="9144000" cy="292608"/>
          </a:xfrm>
          <a:prstGeom prst="rect">
            <a:avLst/>
          </a:prstGeom>
          <a:noFill/>
          <a:ln/>
        </p:spPr>
        <p:txBody>
          <a:bodyPr wrap="square" rtlCol="0" anchor="ctr"/>
          <a:lstStyle/>
          <a:p>
            <a:pPr algn="ctr" indent="0" marL="0">
              <a:buNone/>
            </a:pPr>
            <a:r>
              <a:rPr lang="en-US" sz="1300" b="1" spc="400" kern="0" dirty="0">
                <a:solidFill>
                  <a:srgbClr val="C9A24B"/>
                </a:solidFill>
                <a:latin typeface="Calibri" pitchFamily="34" charset="0"/>
                <a:ea typeface="Calibri" pitchFamily="34" charset="-122"/>
                <a:cs typeface="Calibri" pitchFamily="34" charset="-120"/>
              </a:rPr>
              <a:t>JULY 2, 2026</a:t>
            </a:r>
            <a:endParaRPr lang="en-US" sz="1300" dirty="0"/>
          </a:p>
        </p:txBody>
      </p:sp>
      <p:sp>
        <p:nvSpPr>
          <p:cNvPr id="7" name="Text 5"/>
          <p:cNvSpPr/>
          <p:nvPr/>
        </p:nvSpPr>
        <p:spPr>
          <a:xfrm>
            <a:off x="0" y="1938528"/>
            <a:ext cx="9144000" cy="960120"/>
          </a:xfrm>
          <a:prstGeom prst="rect">
            <a:avLst/>
          </a:prstGeom>
          <a:noFill/>
          <a:ln/>
          <a:effectLst>
            <a:outerShdw sx="100000" sy="100000" kx="0" ky="0" algn="bl" rotWithShape="0" blurRad="152400" dist="76200" dir="5400000">
              <a:srgbClr val="000000">
                <a:alpha val="36000"/>
              </a:srgbClr>
            </a:outerShdw>
          </a:effectLst>
        </p:spPr>
        <p:txBody>
          <a:bodyPr wrap="square" rtlCol="0" anchor="ctr"/>
          <a:lstStyle/>
          <a:p>
            <a:pPr algn="ctr" indent="0" marL="0">
              <a:buNone/>
            </a:pPr>
            <a:r>
              <a:rPr lang="en-US" sz="6000" b="1" dirty="0">
                <a:solidFill>
                  <a:srgbClr val="F1ECDD"/>
                </a:solidFill>
                <a:latin typeface="Cambria" pitchFamily="34" charset="0"/>
                <a:ea typeface="Cambria" pitchFamily="34" charset="-122"/>
                <a:cs typeface="Cambria" pitchFamily="34" charset="-120"/>
              </a:rPr>
              <a:t>Add your name.</a:t>
            </a:r>
            <a:endParaRPr lang="en-US" sz="6000" dirty="0"/>
          </a:p>
        </p:txBody>
      </p:sp>
      <p:sp>
        <p:nvSpPr>
          <p:cNvPr id="8" name="Text 6"/>
          <p:cNvSpPr/>
          <p:nvPr/>
        </p:nvSpPr>
        <p:spPr>
          <a:xfrm>
            <a:off x="914400" y="3108960"/>
            <a:ext cx="7315200" cy="640080"/>
          </a:xfrm>
          <a:prstGeom prst="rect">
            <a:avLst/>
          </a:prstGeom>
          <a:noFill/>
          <a:ln/>
        </p:spPr>
        <p:txBody>
          <a:bodyPr wrap="square" lIns="0" tIns="0" rIns="0" bIns="0" rtlCol="0" anchor="ctr"/>
          <a:lstStyle/>
          <a:p>
            <a:pPr algn="ctr" indent="0" marL="0">
              <a:lnSpc>
                <a:spcPct val="115000"/>
              </a:lnSpc>
              <a:buNone/>
            </a:pPr>
            <a:r>
              <a:rPr lang="en-US" sz="1700" dirty="0">
                <a:solidFill>
                  <a:srgbClr val="CFD5E0"/>
                </a:solidFill>
                <a:latin typeface="Calibri" pitchFamily="34" charset="0"/>
                <a:ea typeface="Calibri" pitchFamily="34" charset="-122"/>
                <a:cs typeface="Calibri" pitchFamily="34" charset="-120"/>
              </a:rPr>
              <a:t>Affirm the Declaration. Join the founding cohort. Help build the internet that should have been.</a:t>
            </a:r>
            <a:endParaRPr lang="en-US" sz="1700" dirty="0"/>
          </a:p>
        </p:txBody>
      </p:sp>
      <p:sp>
        <p:nvSpPr>
          <p:cNvPr id="9" name="Shape 7"/>
          <p:cNvSpPr/>
          <p:nvPr/>
        </p:nvSpPr>
        <p:spPr>
          <a:xfrm>
            <a:off x="3063240" y="3950208"/>
            <a:ext cx="3017520" cy="566928"/>
          </a:xfrm>
          <a:prstGeom prst="roundRect">
            <a:avLst>
              <a:gd name="adj" fmla="val 50000"/>
            </a:avLst>
          </a:prstGeom>
          <a:solidFill>
            <a:srgbClr val="B08D3A"/>
          </a:solidFill>
          <a:ln/>
          <a:effectLst>
            <a:outerShdw sx="100000" sy="100000" kx="0" ky="0" algn="bl" rotWithShape="0" blurRad="101600" dist="38100" dir="5400000">
              <a:srgbClr val="000000">
                <a:alpha val="30000"/>
              </a:srgbClr>
            </a:outerShdw>
          </a:effectLst>
        </p:spPr>
      </p:sp>
      <p:sp>
        <p:nvSpPr>
          <p:cNvPr id="10" name="Text 8"/>
          <p:cNvSpPr/>
          <p:nvPr/>
        </p:nvSpPr>
        <p:spPr>
          <a:xfrm>
            <a:off x="3063240" y="3950208"/>
            <a:ext cx="3017520" cy="566928"/>
          </a:xfrm>
          <a:prstGeom prst="rect">
            <a:avLst/>
          </a:prstGeom>
          <a:noFill/>
          <a:ln/>
        </p:spPr>
        <p:txBody>
          <a:bodyPr wrap="square" lIns="0" tIns="0" rIns="0" bIns="0" rtlCol="0" anchor="ctr"/>
          <a:lstStyle/>
          <a:p>
            <a:pPr algn="ctr" indent="0" marL="0">
              <a:buNone/>
            </a:pPr>
            <a:r>
              <a:rPr lang="en-US" sz="1800" b="1" dirty="0">
                <a:solidFill>
                  <a:srgbClr val="13203B"/>
                </a:solidFill>
                <a:latin typeface="Calibri" pitchFamily="34" charset="0"/>
                <a:ea typeface="Calibri" pitchFamily="34" charset="-122"/>
                <a:cs typeface="Calibri" pitchFamily="34" charset="-120"/>
              </a:rPr>
              <a:t>wetheusers.ai</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0" y="1828800"/>
            <a:ext cx="9144000" cy="1005840"/>
          </a:xfrm>
          <a:prstGeom prst="rect">
            <a:avLst/>
          </a:prstGeom>
          <a:noFill/>
          <a:ln/>
          <a:effectLst>
            <a:outerShdw sx="100000" sy="100000" kx="0" ky="0" algn="bl" rotWithShape="0" blurRad="139700" dist="63500" dir="5400000">
              <a:srgbClr val="000000">
                <a:alpha val="34000"/>
              </a:srgbClr>
            </a:outerShdw>
          </a:effectLst>
        </p:spPr>
        <p:txBody>
          <a:bodyPr wrap="square" rtlCol="0" anchor="ctr"/>
          <a:lstStyle/>
          <a:p>
            <a:pPr algn="ctr" indent="0" marL="0">
              <a:buNone/>
            </a:pPr>
            <a:r>
              <a:rPr lang="en-US" sz="5800" b="1" dirty="0">
                <a:solidFill>
                  <a:srgbClr val="F1ECDD"/>
                </a:solidFill>
                <a:latin typeface="Cambria" pitchFamily="34" charset="0"/>
                <a:ea typeface="Cambria" pitchFamily="34" charset="-122"/>
                <a:cs typeface="Cambria" pitchFamily="34" charset="-120"/>
              </a:rPr>
              <a:t>We the Users</a:t>
            </a:r>
            <a:endParaRPr lang="en-US" sz="5800" dirty="0"/>
          </a:p>
        </p:txBody>
      </p:sp>
      <p:sp>
        <p:nvSpPr>
          <p:cNvPr id="3" name="Text 1"/>
          <p:cNvSpPr/>
          <p:nvPr/>
        </p:nvSpPr>
        <p:spPr>
          <a:xfrm>
            <a:off x="0" y="2889504"/>
            <a:ext cx="9144000" cy="502920"/>
          </a:xfrm>
          <a:prstGeom prst="rect">
            <a:avLst/>
          </a:prstGeom>
          <a:noFill/>
          <a:ln/>
        </p:spPr>
        <p:txBody>
          <a:bodyPr wrap="square" rtlCol="0" anchor="ctr"/>
          <a:lstStyle/>
          <a:p>
            <a:pPr algn="ctr" indent="0" marL="0">
              <a:buNone/>
            </a:pPr>
            <a:r>
              <a:rPr lang="en-US" sz="2600" i="1" dirty="0">
                <a:solidFill>
                  <a:srgbClr val="C9A24B"/>
                </a:solidFill>
                <a:latin typeface="Cambria" pitchFamily="34" charset="0"/>
                <a:ea typeface="Cambria" pitchFamily="34" charset="-122"/>
                <a:cs typeface="Cambria" pitchFamily="34" charset="-120"/>
              </a:rPr>
              <a:t>Not we the used.</a:t>
            </a:r>
            <a:endParaRPr lang="en-US" sz="2600" dirty="0"/>
          </a:p>
        </p:txBody>
      </p:sp>
      <p:sp>
        <p:nvSpPr>
          <p:cNvPr id="4" name="Text 2"/>
          <p:cNvSpPr/>
          <p:nvPr/>
        </p:nvSpPr>
        <p:spPr>
          <a:xfrm>
            <a:off x="0" y="4114800"/>
            <a:ext cx="9144000" cy="310896"/>
          </a:xfrm>
          <a:prstGeom prst="rect">
            <a:avLst/>
          </a:prstGeom>
          <a:noFill/>
          <a:ln/>
        </p:spPr>
        <p:txBody>
          <a:bodyPr wrap="square" rtlCol="0" anchor="ctr"/>
          <a:lstStyle/>
          <a:p>
            <a:pPr algn="ctr" indent="0" marL="0">
              <a:buNone/>
            </a:pPr>
            <a:r>
              <a:rPr lang="en-US" sz="1250" b="1" spc="300" kern="0" dirty="0">
                <a:solidFill>
                  <a:srgbClr val="9AA6BC"/>
                </a:solidFill>
                <a:latin typeface="Calibri" pitchFamily="34" charset="0"/>
                <a:ea typeface="Calibri" pitchFamily="34" charset="-122"/>
                <a:cs typeface="Calibri" pitchFamily="34" charset="-120"/>
              </a:rPr>
              <a:t>JULY 2, 2026   ·   WETHEUSERS.AI</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 the Users — A Declaration of Internet Independence</dc:title>
  <dc:subject>PptxGenJS Presentation</dc:subject>
  <dc:creator>We the Users</dc:creator>
  <cp:lastModifiedBy>We the Users</cp:lastModifiedBy>
  <cp:revision>1</cp:revision>
  <dcterms:created xsi:type="dcterms:W3CDTF">2026-06-26T22:24:15Z</dcterms:created>
  <dcterms:modified xsi:type="dcterms:W3CDTF">2026-06-26T22:24:15Z</dcterms:modified>
</cp:coreProperties>
</file>